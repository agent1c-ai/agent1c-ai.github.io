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20"/>
          </a:solidFill>
          <a:ln>
            <a:solidFill>
              <a:srgbClr val="09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64040" y="-1097280"/>
            <a:ext cx="3931920" cy="3931920"/>
          </a:xfrm>
          <a:prstGeom prst="ellipse">
            <a:avLst/>
          </a:prstGeom>
          <a:solidFill>
            <a:srgbClr val="10243C"/>
          </a:solidFill>
          <a:ln>
            <a:solidFill>
              <a:srgbClr val="10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68680" y="5257800"/>
            <a:ext cx="2286000" cy="2286000"/>
          </a:xfrm>
          <a:prstGeom prst="ellipse">
            <a:avLst/>
          </a:prstGeom>
          <a:solidFill>
            <a:srgbClr val="15233B"/>
          </a:solidFill>
          <a:ln>
            <a:solidFill>
              <a:srgbClr val="15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594360" cy="73152"/>
          </a:xfrm>
          <a:prstGeom prst="rect">
            <a:avLst/>
          </a:prstGeom>
          <a:solidFill>
            <a:srgbClr val="35E4C4"/>
          </a:solidFill>
          <a:ln>
            <a:solidFill>
              <a:srgbClr val="35E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98448" y="530352"/>
            <a:ext cx="420624" cy="73152"/>
          </a:xfrm>
          <a:prstGeom prst="rect">
            <a:avLst/>
          </a:prstGeom>
          <a:solidFill>
            <a:srgbClr val="FF7A59"/>
          </a:solidFill>
          <a:ln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73936" y="530352"/>
            <a:ext cx="329184" cy="73152"/>
          </a:xfrm>
          <a:prstGeom prst="rect">
            <a:avLst/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713232"/>
            <a:ext cx="2331720" cy="347472"/>
          </a:xfrm>
          <a:prstGeom prst="roundRect">
            <a:avLst>
              <a:gd name="adj" fmla="val 18000"/>
            </a:avLst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768096"/>
            <a:ext cx="20939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091120"/>
                </a:solidFill>
                <a:latin typeface="Trebuchet MS"/>
              </a:defRPr>
            </a:pPr>
            <a:r>
              <a:t>SOLANA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200" b="1">
                <a:solidFill>
                  <a:srgbClr val="F7F4EE"/>
                </a:solidFill>
                <a:latin typeface="Trebuchet MS"/>
              </a:defRPr>
            </a:pPr>
            <a:r>
              <a:t>Agent1c.ai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01952"/>
            <a:ext cx="6126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600" b="1">
                <a:solidFill>
                  <a:srgbClr val="35E4C4"/>
                </a:solidFill>
                <a:latin typeface="Trebuchet MS"/>
              </a:defRPr>
            </a:pPr>
            <a:r>
              <a:t>The Solana DeFi + DePIN 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5486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0">
                <a:solidFill>
                  <a:srgbClr val="C8D3E2"/>
                </a:solidFill>
                <a:latin typeface="Trebuchet MS"/>
              </a:defRPr>
            </a:pPr>
            <a:r>
              <a:t>A cloud-accessible operating system for your entire onchain life.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1700" b="0">
                <a:solidFill>
                  <a:srgbClr val="C8D3E2"/>
                </a:solidFill>
                <a:latin typeface="Trebuchet MS"/>
              </a:defRPr>
            </a:pPr>
            <a:r>
              <a:t>One wallet-native desktop. One agentic layer. One landing page for the Solana ecosystem.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63440"/>
            <a:ext cx="5532120" cy="1051560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4965192"/>
            <a:ext cx="1508760" cy="411480"/>
          </a:xfrm>
          <a:prstGeom prst="roundRect">
            <a:avLst>
              <a:gd name="adj" fmla="val 18000"/>
            </a:avLst>
          </a:prstGeom>
          <a:solidFill>
            <a:srgbClr val="10243C"/>
          </a:solidFill>
          <a:ln>
            <a:solidFill>
              <a:srgbClr val="35E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084064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F7F4EE"/>
                </a:solidFill>
                <a:latin typeface="Trebuchet MS"/>
              </a:defRPr>
            </a:pPr>
            <a:r>
              <a:t>DeFi workspace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4965192"/>
            <a:ext cx="1508760" cy="411480"/>
          </a:xfrm>
          <a:prstGeom prst="roundRect">
            <a:avLst>
              <a:gd name="adj" fmla="val 18000"/>
            </a:avLst>
          </a:prstGeom>
          <a:solidFill>
            <a:srgbClr val="10243C"/>
          </a:solidFill>
          <a:ln>
            <a:solidFill>
              <a:srgbClr val="35E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5084064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F7F4EE"/>
                </a:solidFill>
                <a:latin typeface="Trebuchet MS"/>
              </a:defRPr>
            </a:pPr>
            <a:r>
              <a:t>DePIN control plane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4965192"/>
            <a:ext cx="1508760" cy="411480"/>
          </a:xfrm>
          <a:prstGeom prst="roundRect">
            <a:avLst>
              <a:gd name="adj" fmla="val 18000"/>
            </a:avLst>
          </a:prstGeom>
          <a:solidFill>
            <a:srgbClr val="10243C"/>
          </a:solidFill>
          <a:ln>
            <a:solidFill>
              <a:srgbClr val="35E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79" y="5084064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F7F4EE"/>
                </a:solidFill>
                <a:latin typeface="Trebuchet MS"/>
              </a:defRPr>
            </a:pPr>
            <a:r>
              <a:t>Agentic dapp OS</a:t>
            </a:r>
          </a:p>
        </p:txBody>
      </p:sp>
      <p:sp>
        <p:nvSpPr>
          <p:cNvPr id="20" name="Oval 19"/>
          <p:cNvSpPr/>
          <p:nvPr/>
        </p:nvSpPr>
        <p:spPr>
          <a:xfrm>
            <a:off x="7818120" y="1051560"/>
            <a:ext cx="3108960" cy="3108960"/>
          </a:xfrm>
          <a:prstGeom prst="ellipse">
            <a:avLst/>
          </a:prstGeom>
          <a:solidFill>
            <a:srgbClr val="113A45"/>
          </a:solidFill>
          <a:ln>
            <a:solidFill>
              <a:srgbClr val="113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56448" y="1389888"/>
            <a:ext cx="2432304" cy="2432304"/>
          </a:xfrm>
          <a:prstGeom prst="ellipse">
            <a:avLst/>
          </a:prstGeom>
          <a:solidFill>
            <a:srgbClr val="1B4A55"/>
          </a:solidFill>
          <a:ln>
            <a:solidFill>
              <a:srgbClr val="1B4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hedgey-clip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4" y="1252728"/>
            <a:ext cx="2395728" cy="240041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01968" y="4736592"/>
            <a:ext cx="4343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C8D3E2"/>
                </a:solidFill>
                <a:latin typeface="Trebuchet MS"/>
              </a:defRPr>
            </a:pPr>
            <a:r>
              <a:t>The future homepage of the Solana ecosystem should feel less like a dashboard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C8D3E2"/>
                </a:solidFill>
                <a:latin typeface="Trebuchet MS"/>
              </a:defRPr>
            </a:pPr>
            <a:r>
              <a:t>and more like an operating system.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2823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F7F4EE"/>
                </a:solidFill>
                <a:latin typeface="Trebuchet MS"/>
              </a:defRPr>
            </a:pPr>
            <a:r>
              <a:t>Agent1c.ai  |  Solana Hackathon  |  Pitch Deck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F7F4EE"/>
                </a:solidFill>
                <a:latin typeface="Trebuchet M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solidFill>
              <a:srgbClr val="F7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7A59"/>
          </a:solidFill>
          <a:ln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594360"/>
            <a:ext cx="2240280" cy="2240280"/>
          </a:xfrm>
          <a:prstGeom prst="ellipse">
            <a:avLst/>
          </a:prstGeom>
          <a:solidFill>
            <a:srgbClr val="F1E6D8"/>
          </a:solidFill>
          <a:ln>
            <a:solidFill>
              <a:srgbClr val="F1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623560"/>
            <a:ext cx="1645920" cy="1645920"/>
          </a:xfrm>
          <a:prstGeom prst="ellipse">
            <a:avLst/>
          </a:prstGeom>
          <a:solidFill>
            <a:srgbClr val="F0E0D1"/>
          </a:solidFill>
          <a:ln>
            <a:solidFill>
              <a:srgbClr val="F0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2286000" cy="347472"/>
          </a:xfrm>
          <a:prstGeom prst="roundRect">
            <a:avLst>
              <a:gd name="adj" fmla="val 18000"/>
            </a:avLst>
          </a:prstGeom>
          <a:solidFill>
            <a:srgbClr val="FF7A59"/>
          </a:solidFill>
          <a:ln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621792"/>
            <a:ext cx="20482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F7F4EE"/>
                </a:solidFill>
                <a:latin typeface="Trebuchet M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32688"/>
            <a:ext cx="5760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14233B"/>
                </a:solidFill>
                <a:latin typeface="Trebuchet MS"/>
              </a:defRPr>
            </a:pPr>
            <a:r>
              <a:t>Onchain life is fragmented.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14233B"/>
                </a:solidFill>
                <a:latin typeface="Trebuchet MS"/>
              </a:defRPr>
            </a:pPr>
            <a:r>
              <a:t>DeFi and DePIN make that fragmentation worse.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59152"/>
            <a:ext cx="507492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  <a:defRPr sz="1700">
                <a:solidFill>
                  <a:srgbClr val="14233B"/>
                </a:solidFill>
                <a:latin typeface="Trebuchet MS"/>
              </a:defRPr>
            </a:pPr>
            <a:r>
              <a:t>• Users bounce across wallets, dapps, explorers, dashboards, Discord, Telegram, spreadsheets, and browser tabs.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  <a:defRPr sz="1700">
                <a:solidFill>
                  <a:srgbClr val="14233B"/>
                </a:solidFill>
                <a:latin typeface="Trebuchet MS"/>
              </a:defRPr>
            </a:pPr>
            <a:r>
              <a:t>• Every surface knows one tiny slice of the user's state, but none understands the full onchain workflow.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  <a:defRPr sz="1700">
                <a:solidFill>
                  <a:srgbClr val="14233B"/>
                </a:solidFill>
                <a:latin typeface="Trebuchet MS"/>
              </a:defRPr>
            </a:pPr>
            <a:r>
              <a:t>• DeFi adds portfolio complexity. DePIN adds devices, uptime, rewards, maps, and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25296"/>
            <a:ext cx="4754880" cy="44348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E5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11696" y="1572768"/>
            <a:ext cx="4160520" cy="804672"/>
          </a:xfrm>
          <a:prstGeom prst="roundRect">
            <a:avLst>
              <a:gd name="adj" fmla="val 18000"/>
            </a:avLst>
          </a:prstGeom>
          <a:solidFill>
            <a:srgbClr val="EEF4F7"/>
          </a:solidFill>
          <a:ln>
            <a:solidFill>
              <a:srgbClr val="EE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76288" y="1719072"/>
            <a:ext cx="383133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14233B"/>
                </a:solidFill>
                <a:latin typeface="Trebuchet MS"/>
              </a:defRPr>
            </a:pPr>
            <a:r>
              <a:t>Wallet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6288" y="2084832"/>
            <a:ext cx="383133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4F637D"/>
                </a:solidFill>
                <a:latin typeface="Trebuchet MS"/>
              </a:defRPr>
            </a:pPr>
            <a:r>
              <a:t>Good for signing, weak at 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11696" y="2596896"/>
            <a:ext cx="4160520" cy="804672"/>
          </a:xfrm>
          <a:prstGeom prst="roundRect">
            <a:avLst>
              <a:gd name="adj" fmla="val 18000"/>
            </a:avLst>
          </a:prstGeom>
          <a:solidFill>
            <a:srgbClr val="EEF4F7"/>
          </a:solidFill>
          <a:ln>
            <a:solidFill>
              <a:srgbClr val="EE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2743200"/>
            <a:ext cx="383133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14233B"/>
                </a:solidFill>
                <a:latin typeface="Trebuchet MS"/>
              </a:defRPr>
            </a:pPr>
            <a:r>
              <a:t>Single dapp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3108960"/>
            <a:ext cx="383133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4F637D"/>
                </a:solidFill>
                <a:latin typeface="Trebuchet MS"/>
              </a:defRPr>
            </a:pPr>
            <a:r>
              <a:t>Powerful inside one silo.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11696" y="3621024"/>
            <a:ext cx="4160520" cy="804672"/>
          </a:xfrm>
          <a:prstGeom prst="roundRect">
            <a:avLst>
              <a:gd name="adj" fmla="val 18000"/>
            </a:avLst>
          </a:prstGeom>
          <a:solidFill>
            <a:srgbClr val="EEF4F7"/>
          </a:solidFill>
          <a:ln>
            <a:solidFill>
              <a:srgbClr val="EE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76288" y="3767328"/>
            <a:ext cx="383133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14233B"/>
                </a:solidFill>
                <a:latin typeface="Trebuchet MS"/>
              </a:defRPr>
            </a:pPr>
            <a: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4133087"/>
            <a:ext cx="383133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4F637D"/>
                </a:solidFill>
                <a:latin typeface="Trebuchet MS"/>
              </a:defRPr>
            </a:pPr>
            <a:r>
              <a:t>Observes state, rarely operates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11696" y="4645152"/>
            <a:ext cx="4160520" cy="804672"/>
          </a:xfrm>
          <a:prstGeom prst="roundRect">
            <a:avLst>
              <a:gd name="adj" fmla="val 18000"/>
            </a:avLst>
          </a:prstGeom>
          <a:solidFill>
            <a:srgbClr val="EEF4F7"/>
          </a:solidFill>
          <a:ln>
            <a:solidFill>
              <a:srgbClr val="EE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4791456"/>
            <a:ext cx="383133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14233B"/>
                </a:solidFill>
                <a:latin typeface="Trebuchet MS"/>
              </a:defRPr>
            </a:pPr>
            <a:r>
              <a:t>Assistant tab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5157216"/>
            <a:ext cx="383133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4F637D"/>
                </a:solidFill>
                <a:latin typeface="Trebuchet MS"/>
              </a:defRPr>
            </a:pPr>
            <a:r>
              <a:t>Talks separately from the actual workflow.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669280"/>
            <a:ext cx="10469880" cy="512064"/>
          </a:xfrm>
          <a:prstGeom prst="roundRect">
            <a:avLst>
              <a:gd name="adj" fmla="val 18000"/>
            </a:avLst>
          </a:prstGeom>
          <a:solidFill>
            <a:srgbClr val="14233B"/>
          </a:solidFill>
          <a:ln>
            <a:solidFill>
              <a:srgbClr val="14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824728"/>
            <a:ext cx="10012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F7F4EE"/>
                </a:solidFill>
                <a:latin typeface="Trebuchet MS"/>
              </a:defRPr>
            </a:pPr>
            <a:r>
              <a:t>Solana has network-level composability, but the user experience is still app-by-app, tab-by-tab, and task-by-task.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2823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4F637D"/>
                </a:solidFill>
                <a:latin typeface="Trebuchet MS"/>
              </a:defRPr>
            </a:pPr>
            <a:r>
              <a:t>Agent1c.ai  |  Solana Hackathon  |  Pitch Deck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4F637D"/>
                </a:solidFill>
                <a:latin typeface="Trebuchet M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20"/>
          </a:solidFill>
          <a:ln>
            <a:solidFill>
              <a:srgbClr val="09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64040" y="-1097280"/>
            <a:ext cx="3931920" cy="3931920"/>
          </a:xfrm>
          <a:prstGeom prst="ellipse">
            <a:avLst/>
          </a:prstGeom>
          <a:solidFill>
            <a:srgbClr val="10243C"/>
          </a:solidFill>
          <a:ln>
            <a:solidFill>
              <a:srgbClr val="10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68680" y="5257800"/>
            <a:ext cx="2286000" cy="2286000"/>
          </a:xfrm>
          <a:prstGeom prst="ellipse">
            <a:avLst/>
          </a:prstGeom>
          <a:solidFill>
            <a:srgbClr val="15233B"/>
          </a:solidFill>
          <a:ln>
            <a:solidFill>
              <a:srgbClr val="15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594360" cy="73152"/>
          </a:xfrm>
          <a:prstGeom prst="rect">
            <a:avLst/>
          </a:prstGeom>
          <a:solidFill>
            <a:srgbClr val="35E4C4"/>
          </a:solidFill>
          <a:ln>
            <a:solidFill>
              <a:srgbClr val="35E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98448" y="530352"/>
            <a:ext cx="420624" cy="73152"/>
          </a:xfrm>
          <a:prstGeom prst="rect">
            <a:avLst/>
          </a:prstGeom>
          <a:solidFill>
            <a:srgbClr val="FF7A59"/>
          </a:solidFill>
          <a:ln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73936" y="530352"/>
            <a:ext cx="329184" cy="73152"/>
          </a:xfrm>
          <a:prstGeom prst="rect">
            <a:avLst/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658368"/>
            <a:ext cx="3108960" cy="347472"/>
          </a:xfrm>
          <a:prstGeom prst="roundRect">
            <a:avLst>
              <a:gd name="adj" fmla="val 18000"/>
            </a:avLst>
          </a:prstGeom>
          <a:solidFill>
            <a:srgbClr val="35E4C4"/>
          </a:solidFill>
          <a:ln>
            <a:solidFill>
              <a:srgbClr val="35E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713232"/>
            <a:ext cx="2871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091120"/>
                </a:solidFill>
                <a:latin typeface="Trebuchet MS"/>
              </a:defRPr>
            </a:pPr>
            <a:r>
              <a:t>WHY CURRENT PRODUCTS STOP SHORT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32688"/>
            <a:ext cx="6492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F7F4EE"/>
                </a:solidFill>
                <a:latin typeface="Trebuchet MS"/>
              </a:defRPr>
            </a:pPr>
            <a:r>
              <a:t>Wallets are not operating systems.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F7F4EE"/>
                </a:solidFill>
                <a:latin typeface="Trebuchet MS"/>
              </a:defRPr>
            </a:pPr>
            <a:r>
              <a:t>Dashboards are not copilots.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5760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C5D2E2"/>
                </a:solidFill>
                <a:latin typeface="Trebuchet MS"/>
              </a:defRPr>
            </a:pPr>
            <a:r>
              <a:t>The core failure is architectural: users still have to be the orchestrator.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95728"/>
            <a:ext cx="5303520" cy="1335024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542032"/>
            <a:ext cx="49743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F7F4EE"/>
                </a:solidFill>
                <a:latin typeface="Trebuchet MS"/>
              </a:defRPr>
            </a:pPr>
            <a:r>
              <a:t>Wallet-first 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2907792"/>
            <a:ext cx="497433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Great for approval flows, but poor at planning, memory, and multi-step 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395728"/>
            <a:ext cx="5303520" cy="1335024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542032"/>
            <a:ext cx="49743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F7F4EE"/>
                </a:solidFill>
                <a:latin typeface="Trebuchet MS"/>
              </a:defRPr>
            </a:pPr>
            <a:r>
              <a:t>Dapp-first 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907792"/>
            <a:ext cx="497433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Each app optimizes for itself, not for the user's total onchain workflow.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33087"/>
            <a:ext cx="5303520" cy="1335024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4279392"/>
            <a:ext cx="49743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F7F4EE"/>
                </a:solidFill>
                <a:latin typeface="Trebuchet MS"/>
              </a:defRPr>
            </a:pPr>
            <a:r>
              <a:t>Chat-first 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645152"/>
            <a:ext cx="497433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An AI tab without native control of the workspace becomes another place to copy and paste.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33087"/>
            <a:ext cx="5303520" cy="1335024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4279392"/>
            <a:ext cx="49743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F7F4EE"/>
                </a:solidFill>
                <a:latin typeface="Trebuchet MS"/>
              </a:defRPr>
            </a:pPr>
            <a:r>
              <a:t>Read-only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645152"/>
            <a:ext cx="497433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Insight alone does not simplify the work of navigating an ecosystem.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2823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F7F4EE"/>
                </a:solidFill>
                <a:latin typeface="Trebuchet MS"/>
              </a:defRPr>
            </a:pPr>
            <a:r>
              <a:t>Agent1c.ai  |  Solana Hackathon  |  Pitch Deck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F7F4EE"/>
                </a:solidFill>
                <a:latin typeface="Trebuchet M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5"/>
          </a:solidFill>
          <a:ln>
            <a:solidFill>
              <a:srgbClr val="EA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5E4C4"/>
          </a:solidFill>
          <a:ln>
            <a:solidFill>
              <a:srgbClr val="35E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594360"/>
            <a:ext cx="2240280" cy="2240280"/>
          </a:xfrm>
          <a:prstGeom prst="ellipse">
            <a:avLst/>
          </a:prstGeom>
          <a:solidFill>
            <a:srgbClr val="DEEDEF"/>
          </a:solidFill>
          <a:ln>
            <a:solidFill>
              <a:srgbClr val="DE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623560"/>
            <a:ext cx="1645920" cy="1645920"/>
          </a:xfrm>
          <a:prstGeom prst="ellipse">
            <a:avLst/>
          </a:prstGeom>
          <a:solidFill>
            <a:srgbClr val="DCEBEE"/>
          </a:solidFill>
          <a:ln>
            <a:solidFill>
              <a:srgbClr val="DC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2286000" cy="347472"/>
          </a:xfrm>
          <a:prstGeom prst="roundRect">
            <a:avLst>
              <a:gd name="adj" fmla="val 18000"/>
            </a:avLst>
          </a:prstGeom>
          <a:solidFill>
            <a:srgbClr val="35E4C4"/>
          </a:solidFill>
          <a:ln>
            <a:solidFill>
              <a:srgbClr val="35E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621792"/>
            <a:ext cx="20482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091120"/>
                </a:solidFill>
                <a:latin typeface="Trebuchet MS"/>
              </a:defRPr>
            </a:pPr>
            <a:r>
              <a:t>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32688"/>
            <a:ext cx="6492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4233B"/>
                </a:solidFill>
                <a:latin typeface="Trebuchet MS"/>
              </a:defRPr>
            </a:pPr>
            <a:r>
              <a:t>Imagine an operating system for your onchain life.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5760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4F637D"/>
                </a:solidFill>
                <a:latin typeface="Trebuchet MS"/>
              </a:defRPr>
            </a:pPr>
            <a:r>
              <a:t>That framing changes everything: the problem, the product, the distribution, and the role of the agent.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40864"/>
            <a:ext cx="48463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4233B"/>
                </a:solidFill>
                <a:latin typeface="Trebuchet MS"/>
              </a:defRPr>
            </a:pPr>
            <a:r>
              <a:t>• Your wallet is identity, not just a signing popup.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4233B"/>
                </a:solidFill>
                <a:latin typeface="Trebuchet MS"/>
              </a:defRPr>
            </a:pPr>
            <a:r>
              <a:t>• Your dapps are windows and apps inside one coherent desktop.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4233B"/>
                </a:solidFill>
                <a:latin typeface="Trebuchet MS"/>
              </a:defRPr>
            </a:pPr>
            <a:r>
              <a:t>• Your history, notes, alerts, tools, and decisions persist in one place.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4233B"/>
                </a:solidFill>
                <a:latin typeface="Trebuchet MS"/>
              </a:defRPr>
            </a:pPr>
            <a:r>
              <a:t>• Your AI is not beside the OS. Your AI is part of the 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389888"/>
            <a:ext cx="4983480" cy="4480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737360"/>
            <a:ext cx="4315968" cy="914400"/>
          </a:xfrm>
          <a:prstGeom prst="roundRect">
            <a:avLst>
              <a:gd name="adj" fmla="val 18000"/>
            </a:avLst>
          </a:prstGeom>
          <a:solidFill>
            <a:srgbClr val="EEF4F7"/>
          </a:solidFill>
          <a:ln>
            <a:solidFill>
              <a:srgbClr val="EE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883664"/>
            <a:ext cx="398678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14233B"/>
                </a:solidFill>
                <a:latin typeface="Trebuchet MS"/>
              </a:defRPr>
            </a:pPr>
            <a:r>
              <a:t>New 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249424"/>
            <a:ext cx="39867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4F637D"/>
                </a:solidFill>
                <a:latin typeface="Trebuchet MS"/>
              </a:defRPr>
            </a:pPr>
            <a:r>
              <a:t>Not a chatbot, not a wallet, not a dashboard. A Solana-native cloud desktop.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852928"/>
            <a:ext cx="4315968" cy="914400"/>
          </a:xfrm>
          <a:prstGeom prst="roundRect">
            <a:avLst>
              <a:gd name="adj" fmla="val 18000"/>
            </a:avLst>
          </a:prstGeom>
          <a:solidFill>
            <a:srgbClr val="EEF4F7"/>
          </a:solidFill>
          <a:ln>
            <a:solidFill>
              <a:srgbClr val="EE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999232"/>
            <a:ext cx="398678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14233B"/>
                </a:solidFill>
                <a:latin typeface="Trebuchet MS"/>
              </a:defRPr>
            </a:pPr>
            <a:r>
              <a:t>New homepage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364992"/>
            <a:ext cx="39867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4F637D"/>
                </a:solidFill>
                <a:latin typeface="Trebuchet MS"/>
              </a:defRPr>
            </a:pPr>
            <a:r>
              <a:t>A landing page for the ecosystem, where users start and end their onchain session.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68496"/>
            <a:ext cx="4315968" cy="914400"/>
          </a:xfrm>
          <a:prstGeom prst="roundRect">
            <a:avLst>
              <a:gd name="adj" fmla="val 18000"/>
            </a:avLst>
          </a:prstGeom>
          <a:solidFill>
            <a:srgbClr val="EEF4F7"/>
          </a:solidFill>
          <a:ln>
            <a:solidFill>
              <a:srgbClr val="EE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4114800"/>
            <a:ext cx="398678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14233B"/>
                </a:solidFill>
                <a:latin typeface="Trebuchet MS"/>
              </a:defRPr>
            </a:pPr>
            <a:r>
              <a:t>New expectation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480560"/>
            <a:ext cx="39867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4F637D"/>
                </a:solidFill>
                <a:latin typeface="Trebuchet MS"/>
              </a:defRPr>
            </a:pPr>
            <a:r>
              <a:t>The agent can reason across apps because the apps live inside the same workspace.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2823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4F637D"/>
                </a:solidFill>
                <a:latin typeface="Trebuchet MS"/>
              </a:defRPr>
            </a:pPr>
            <a:r>
              <a:t>Agent1c.ai  |  Solana Hackathon  |  Pitch Deck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4F637D"/>
                </a:solidFill>
                <a:latin typeface="Trebuchet M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20"/>
          </a:solidFill>
          <a:ln>
            <a:solidFill>
              <a:srgbClr val="09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64040" y="-1097280"/>
            <a:ext cx="3931920" cy="3931920"/>
          </a:xfrm>
          <a:prstGeom prst="ellipse">
            <a:avLst/>
          </a:prstGeom>
          <a:solidFill>
            <a:srgbClr val="10243C"/>
          </a:solidFill>
          <a:ln>
            <a:solidFill>
              <a:srgbClr val="10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68680" y="5257800"/>
            <a:ext cx="2286000" cy="2286000"/>
          </a:xfrm>
          <a:prstGeom prst="ellipse">
            <a:avLst/>
          </a:prstGeom>
          <a:solidFill>
            <a:srgbClr val="15233B"/>
          </a:solidFill>
          <a:ln>
            <a:solidFill>
              <a:srgbClr val="15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594360" cy="73152"/>
          </a:xfrm>
          <a:prstGeom prst="rect">
            <a:avLst/>
          </a:prstGeom>
          <a:solidFill>
            <a:srgbClr val="35E4C4"/>
          </a:solidFill>
          <a:ln>
            <a:solidFill>
              <a:srgbClr val="35E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98448" y="530352"/>
            <a:ext cx="420624" cy="73152"/>
          </a:xfrm>
          <a:prstGeom prst="rect">
            <a:avLst/>
          </a:prstGeom>
          <a:solidFill>
            <a:srgbClr val="FF7A59"/>
          </a:solidFill>
          <a:ln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73936" y="530352"/>
            <a:ext cx="329184" cy="73152"/>
          </a:xfrm>
          <a:prstGeom prst="rect">
            <a:avLst/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658368"/>
            <a:ext cx="2286000" cy="347472"/>
          </a:xfrm>
          <a:prstGeom prst="roundRect">
            <a:avLst>
              <a:gd name="adj" fmla="val 18000"/>
            </a:avLst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713232"/>
            <a:ext cx="20482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091120"/>
                </a:solidFill>
                <a:latin typeface="Trebuchet MS"/>
              </a:defRPr>
            </a:pPr>
            <a: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32688"/>
            <a:ext cx="6492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F7F4EE"/>
                </a:solidFill>
                <a:latin typeface="Trebuchet MS"/>
              </a:defRPr>
            </a:pPr>
            <a:r>
              <a:t>Agent1c.ai is the cloud-accessible Solana DeFi + DePIN 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5760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C5D2E2"/>
                </a:solidFill>
                <a:latin typeface="Trebuchet MS"/>
              </a:defRPr>
            </a:pPr>
            <a:r>
              <a:t>A browser-native desktop where the app launcher becomes a dapp launcher and the desktop becomes the user's persistent onchain workspace.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23160"/>
            <a:ext cx="3246120" cy="1965960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569464"/>
            <a:ext cx="29169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35E4C4"/>
                </a:solidFill>
                <a:latin typeface="Trebuchet MS"/>
              </a:defRPr>
            </a:pPr>
            <a:r>
              <a:t>Desktop shell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2935224"/>
            <a:ext cx="2916936" cy="1307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Windows, browser, notes, files, launcher, and visible state turn the product into a place the user can actually work from.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423160"/>
            <a:ext cx="3246120" cy="1965960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2569464"/>
            <a:ext cx="29169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69CFFF"/>
                </a:solidFill>
                <a:latin typeface="Trebuchet MS"/>
              </a:defRPr>
            </a:pPr>
            <a:r>
              <a:t>Dapp landing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2935224"/>
            <a:ext cx="2916936" cy="1307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The current app surfaces evolve into the home screen for Solana ecosystem experiences, tools, and flows.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2423160"/>
            <a:ext cx="3246120" cy="1965960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2569464"/>
            <a:ext cx="29169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FFC857"/>
                </a:solidFill>
                <a:latin typeface="Trebuchet MS"/>
              </a:defRPr>
            </a:pPr>
            <a:r>
              <a:t>Agentic operating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2935224"/>
            <a:ext cx="2916936" cy="1307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Hitomi helps the user navigate the ecosystem, maintain context, and eventually orchestrate multi-app workflows.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83480"/>
            <a:ext cx="10332720" cy="548640"/>
          </a:xfrm>
          <a:prstGeom prst="roundRect">
            <a:avLst>
              <a:gd name="adj" fmla="val 18000"/>
            </a:avLst>
          </a:prstGeom>
          <a:solidFill>
            <a:srgbClr val="10243C"/>
          </a:solidFill>
          <a:ln>
            <a:solidFill>
              <a:srgbClr val="10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157216"/>
            <a:ext cx="9784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F7F4EE"/>
                </a:solidFill>
                <a:latin typeface="Trebuchet MS"/>
              </a:defRPr>
            </a:pPr>
            <a:r>
              <a:t>The mental model is simple: Agent1c becomes the place you open when you want to do anything serious on Solana.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2823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F7F4EE"/>
                </a:solidFill>
                <a:latin typeface="Trebuchet MS"/>
              </a:defRPr>
            </a:pPr>
            <a:r>
              <a:t>Agent1c.ai  |  Solana Hackathon  |  Pitch Deck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F7F4EE"/>
                </a:solidFill>
                <a:latin typeface="Trebuchet M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solidFill>
              <a:srgbClr val="F7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7A59"/>
          </a:solidFill>
          <a:ln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594360"/>
            <a:ext cx="2240280" cy="2240280"/>
          </a:xfrm>
          <a:prstGeom prst="ellipse">
            <a:avLst/>
          </a:prstGeom>
          <a:solidFill>
            <a:srgbClr val="F1E6D8"/>
          </a:solidFill>
          <a:ln>
            <a:solidFill>
              <a:srgbClr val="F1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623560"/>
            <a:ext cx="1645920" cy="1645920"/>
          </a:xfrm>
          <a:prstGeom prst="ellipse">
            <a:avLst/>
          </a:prstGeom>
          <a:solidFill>
            <a:srgbClr val="F0E0D1"/>
          </a:solidFill>
          <a:ln>
            <a:solidFill>
              <a:srgbClr val="F0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2286000" cy="347472"/>
          </a:xfrm>
          <a:prstGeom prst="roundRect">
            <a:avLst>
              <a:gd name="adj" fmla="val 18000"/>
            </a:avLst>
          </a:prstGeom>
          <a:solidFill>
            <a:srgbClr val="FF7A59"/>
          </a:solidFill>
          <a:ln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621792"/>
            <a:ext cx="20482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F7F4EE"/>
                </a:solidFill>
                <a:latin typeface="Trebuchet MS"/>
              </a:defRPr>
            </a:pPr>
            <a:r>
              <a:t>AGENTIC DIFFERENCE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32688"/>
            <a:ext cx="6492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4233B"/>
                </a:solidFill>
                <a:latin typeface="Trebuchet MS"/>
              </a:defRPr>
            </a:pPr>
            <a:r>
              <a:t>The agent is the operating model, not a decorative assistant.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5760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4F637D"/>
                </a:solidFill>
                <a:latin typeface="Trebuchet MS"/>
              </a:defRPr>
            </a:pPr>
            <a:r>
              <a:t>Once the desktop becomes the system of engagement, the AI can finally work across the user's real environment.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04288"/>
            <a:ext cx="2560320" cy="1417320"/>
          </a:xfrm>
          <a:prstGeom prst="roundRect">
            <a:avLst>
              <a:gd name="adj" fmla="val 18000"/>
            </a:avLst>
          </a:prstGeom>
          <a:solidFill>
            <a:srgbClr val="14233B"/>
          </a:solidFill>
          <a:ln>
            <a:solidFill>
              <a:srgbClr val="14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1" y="2468880"/>
            <a:ext cx="475488" cy="475488"/>
          </a:xfrm>
          <a:prstGeom prst="ellipse">
            <a:avLst/>
          </a:prstGeom>
          <a:solidFill>
            <a:srgbClr val="35E4C4"/>
          </a:solidFill>
          <a:ln>
            <a:solidFill>
              <a:srgbClr val="35E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2505456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091120"/>
                </a:solidFill>
                <a:latin typeface="Trebuchet M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459736"/>
            <a:ext cx="1645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F7F4EE"/>
                </a:solidFill>
                <a:latin typeface="Trebuchet MS"/>
              </a:defRPr>
            </a:pPr>
            <a:r>
              <a:t>See the workspace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2980944"/>
            <a:ext cx="22311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9D5E3"/>
                </a:solidFill>
                <a:latin typeface="Trebuchet MS"/>
              </a:defRPr>
            </a:pPr>
            <a:r>
              <a:t>Apps, windows, notes, browser, and wallet context exist inside one visible environment.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0128" y="2304288"/>
            <a:ext cx="2560320" cy="1417320"/>
          </a:xfrm>
          <a:prstGeom prst="roundRect">
            <a:avLst>
              <a:gd name="adj" fmla="val 18000"/>
            </a:avLst>
          </a:prstGeom>
          <a:solidFill>
            <a:srgbClr val="14233B"/>
          </a:solidFill>
          <a:ln>
            <a:solidFill>
              <a:srgbClr val="14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74720" y="2468880"/>
            <a:ext cx="475488" cy="475488"/>
          </a:xfrm>
          <a:prstGeom prst="ellipse">
            <a:avLst/>
          </a:prstGeom>
          <a:solidFill>
            <a:srgbClr val="69CFFF"/>
          </a:solidFill>
          <a:ln>
            <a:solidFill>
              <a:srgbClr val="69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505456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091120"/>
                </a:solidFill>
                <a:latin typeface="Trebuchet M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9936" y="2459736"/>
            <a:ext cx="1645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F7F4EE"/>
                </a:solidFill>
                <a:latin typeface="Trebuchet MS"/>
              </a:defRPr>
            </a:pPr>
            <a:r>
              <a:t>Reason across apps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980944"/>
            <a:ext cx="22311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9D5E3"/>
                </a:solidFill>
                <a:latin typeface="Trebuchet MS"/>
              </a:defRPr>
            </a:pPr>
            <a:r>
              <a:t>The agent is no longer trapped inside one dapp's bounded UI or one stateless conversation.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0176" y="2304288"/>
            <a:ext cx="2560320" cy="1417320"/>
          </a:xfrm>
          <a:prstGeom prst="roundRect">
            <a:avLst>
              <a:gd name="adj" fmla="val 18000"/>
            </a:avLst>
          </a:prstGeom>
          <a:solidFill>
            <a:srgbClr val="14233B"/>
          </a:solidFill>
          <a:ln>
            <a:solidFill>
              <a:srgbClr val="14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44768" y="2468880"/>
            <a:ext cx="475488" cy="475488"/>
          </a:xfrm>
          <a:prstGeom prst="ellipse">
            <a:avLst/>
          </a:prstGeom>
          <a:solidFill>
            <a:srgbClr val="FF7A59"/>
          </a:solidFill>
          <a:ln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4768" y="2505456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091120"/>
                </a:solidFill>
                <a:latin typeface="Trebuchet M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9984" y="2459736"/>
            <a:ext cx="1645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F7F4EE"/>
                </a:solidFill>
                <a:latin typeface="Trebuchet MS"/>
              </a:defRPr>
            </a:pPr>
            <a:r>
              <a:t>Coordinate workflows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2980944"/>
            <a:ext cx="22311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9D5E3"/>
                </a:solidFill>
                <a:latin typeface="Trebuchet MS"/>
              </a:defRPr>
            </a:pPr>
            <a:r>
              <a:t>Multi-step onchain tasks become a native OS behavior instead of a user chore.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50224" y="2304288"/>
            <a:ext cx="2560320" cy="1417320"/>
          </a:xfrm>
          <a:prstGeom prst="roundRect">
            <a:avLst>
              <a:gd name="adj" fmla="val 18000"/>
            </a:avLst>
          </a:prstGeom>
          <a:solidFill>
            <a:srgbClr val="14233B"/>
          </a:solidFill>
          <a:ln>
            <a:solidFill>
              <a:srgbClr val="14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814816" y="2468880"/>
            <a:ext cx="475488" cy="475488"/>
          </a:xfrm>
          <a:prstGeom prst="ellipse">
            <a:avLst/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14816" y="2505456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091120"/>
                </a:solidFill>
                <a:latin typeface="Trebuchet M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2459736"/>
            <a:ext cx="1645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F7F4EE"/>
                </a:solidFill>
                <a:latin typeface="Trebuchet MS"/>
              </a:defRPr>
            </a:pPr>
            <a:r>
              <a:t>Keep continuity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14816" y="2980944"/>
            <a:ext cx="22311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9D5E3"/>
                </a:solidFill>
                <a:latin typeface="Trebuchet MS"/>
              </a:defRPr>
            </a:pPr>
            <a:r>
              <a:t>The user's onchain life becomes a continuous workspace, not a sequence of disconnected sessions.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297680"/>
            <a:ext cx="10561320" cy="11887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5262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FF7A59"/>
                </a:solidFill>
                <a:latin typeface="Trebuchet MS"/>
              </a:defRPr>
            </a:pPr>
            <a:r>
              <a:t>Big idea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846320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14233B"/>
                </a:solidFill>
                <a:latin typeface="Trebuchet MS"/>
              </a:defRPr>
            </a:pPr>
            <a:r>
              <a:t>Every dapp is smarter when it is part of a larger workspace with memory, notes, routing, alerts, and an agent that can see across surfaces.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2823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4F637D"/>
                </a:solidFill>
                <a:latin typeface="Trebuchet MS"/>
              </a:defRPr>
            </a:pPr>
            <a:r>
              <a:t>Agent1c.ai  |  Solana Hackathon  |  Pitch Deck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4F637D"/>
                </a:solidFill>
                <a:latin typeface="Trebuchet M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20"/>
          </a:solidFill>
          <a:ln>
            <a:solidFill>
              <a:srgbClr val="09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64040" y="-1097280"/>
            <a:ext cx="3931920" cy="3931920"/>
          </a:xfrm>
          <a:prstGeom prst="ellipse">
            <a:avLst/>
          </a:prstGeom>
          <a:solidFill>
            <a:srgbClr val="10243C"/>
          </a:solidFill>
          <a:ln>
            <a:solidFill>
              <a:srgbClr val="10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68680" y="5257800"/>
            <a:ext cx="2286000" cy="2286000"/>
          </a:xfrm>
          <a:prstGeom prst="ellipse">
            <a:avLst/>
          </a:prstGeom>
          <a:solidFill>
            <a:srgbClr val="15233B"/>
          </a:solidFill>
          <a:ln>
            <a:solidFill>
              <a:srgbClr val="15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594360" cy="73152"/>
          </a:xfrm>
          <a:prstGeom prst="rect">
            <a:avLst/>
          </a:prstGeom>
          <a:solidFill>
            <a:srgbClr val="35E4C4"/>
          </a:solidFill>
          <a:ln>
            <a:solidFill>
              <a:srgbClr val="35E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98448" y="530352"/>
            <a:ext cx="420624" cy="73152"/>
          </a:xfrm>
          <a:prstGeom prst="rect">
            <a:avLst/>
          </a:prstGeom>
          <a:solidFill>
            <a:srgbClr val="FF7A59"/>
          </a:solidFill>
          <a:ln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73936" y="530352"/>
            <a:ext cx="329184" cy="73152"/>
          </a:xfrm>
          <a:prstGeom prst="rect">
            <a:avLst/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658368"/>
            <a:ext cx="2286000" cy="347472"/>
          </a:xfrm>
          <a:prstGeom prst="roundRect">
            <a:avLst>
              <a:gd name="adj" fmla="val 18000"/>
            </a:avLst>
          </a:prstGeom>
          <a:solidFill>
            <a:srgbClr val="35E4C4"/>
          </a:solidFill>
          <a:ln>
            <a:solidFill>
              <a:srgbClr val="35E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713232"/>
            <a:ext cx="20482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091120"/>
                </a:solidFill>
                <a:latin typeface="Trebuchet MS"/>
              </a:defRPr>
            </a:pPr>
            <a:r>
              <a:t>DEFI 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32688"/>
            <a:ext cx="6492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F7F4EE"/>
                </a:solidFill>
                <a:latin typeface="Trebuchet MS"/>
              </a:defRPr>
            </a:pPr>
            <a:r>
              <a:t>For DeFi, Agent1c becomes the user's command center.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5760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C5D2E2"/>
                </a:solidFill>
                <a:latin typeface="Trebuchet MS"/>
              </a:defRPr>
            </a:pPr>
            <a:r>
              <a:t>The future product is not one more DeFi app. It is the workspace where DeFi activity is monitored, understood, and executed.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95728"/>
            <a:ext cx="5303520" cy="1335024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542032"/>
            <a:ext cx="49743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35E4C4"/>
                </a:solidFill>
                <a:latin typeface="Trebuchet MS"/>
              </a:defRPr>
            </a:pPr>
            <a:r>
              <a:t>Portfolio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2907792"/>
            <a:ext cx="497433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Wallets, positions, watchlists, notes, and recent decisions stay in one environment.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395728"/>
            <a:ext cx="5303520" cy="1335024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542032"/>
            <a:ext cx="49743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69CFFF"/>
                </a:solidFill>
                <a:latin typeface="Trebuchet MS"/>
              </a:defRPr>
            </a:pPr>
            <a:r>
              <a:t>Research +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907792"/>
            <a:ext cx="497433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The browser, the agent, and the dapp surfaces live together instead of in separate tabs.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33087"/>
            <a:ext cx="5303520" cy="1335024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4279392"/>
            <a:ext cx="49743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35E4C4"/>
                </a:solidFill>
                <a:latin typeface="Trebuchet MS"/>
              </a:defRPr>
            </a:pPr>
            <a:r>
              <a:t>Cross-dapp orchestration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645152"/>
            <a:ext cx="497433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The system can help route the user across lending, LPs, staking, governance, and treasury flows.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33087"/>
            <a:ext cx="5303520" cy="1335024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4279392"/>
            <a:ext cx="49743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69CFFF"/>
                </a:solidFill>
                <a:latin typeface="Trebuchet MS"/>
              </a:defRPr>
            </a:pPr>
            <a:r>
              <a:t>Persistent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645152"/>
            <a:ext cx="497433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The OS remembers what the user was doing, what changed, and what requires attention.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2823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F7F4EE"/>
                </a:solidFill>
                <a:latin typeface="Trebuchet MS"/>
              </a:defRPr>
            </a:pPr>
            <a:r>
              <a:t>Agent1c.ai  |  Solana Hackathon  |  Pitch Deck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F7F4EE"/>
                </a:solidFill>
                <a:latin typeface="Trebuchet M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5"/>
          </a:solidFill>
          <a:ln>
            <a:solidFill>
              <a:srgbClr val="EA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5E4C4"/>
          </a:solidFill>
          <a:ln>
            <a:solidFill>
              <a:srgbClr val="35E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594360"/>
            <a:ext cx="2240280" cy="2240280"/>
          </a:xfrm>
          <a:prstGeom prst="ellipse">
            <a:avLst/>
          </a:prstGeom>
          <a:solidFill>
            <a:srgbClr val="DEEDEF"/>
          </a:solidFill>
          <a:ln>
            <a:solidFill>
              <a:srgbClr val="DE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623560"/>
            <a:ext cx="1645920" cy="1645920"/>
          </a:xfrm>
          <a:prstGeom prst="ellipse">
            <a:avLst/>
          </a:prstGeom>
          <a:solidFill>
            <a:srgbClr val="DCEBEE"/>
          </a:solidFill>
          <a:ln>
            <a:solidFill>
              <a:srgbClr val="DC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2286000" cy="347472"/>
          </a:xfrm>
          <a:prstGeom prst="roundRect">
            <a:avLst>
              <a:gd name="adj" fmla="val 18000"/>
            </a:avLst>
          </a:prstGeom>
          <a:solidFill>
            <a:srgbClr val="35E4C4"/>
          </a:solidFill>
          <a:ln>
            <a:solidFill>
              <a:srgbClr val="35E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621792"/>
            <a:ext cx="20482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091120"/>
                </a:solidFill>
                <a:latin typeface="Trebuchet MS"/>
              </a:defRPr>
            </a:pPr>
            <a:r>
              <a:t>DEPIN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32688"/>
            <a:ext cx="6492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4233B"/>
                </a:solidFill>
                <a:latin typeface="Trebuchet MS"/>
              </a:defRPr>
            </a:pPr>
            <a:r>
              <a:t>For DePIN, Agent1c becomes an operations layer.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5760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4F637D"/>
                </a:solidFill>
                <a:latin typeface="Trebuchet MS"/>
              </a:defRPr>
            </a:pPr>
            <a:r>
              <a:t>DePIN is especially suited to an OS framing because the user is managing networks, hardware, rewards, and status over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49834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  <a:defRPr sz="1700">
                <a:solidFill>
                  <a:srgbClr val="14233B"/>
                </a:solidFill>
                <a:latin typeface="Trebuchet MS"/>
              </a:defRPr>
            </a:pPr>
            <a:r>
              <a:t>• Track device fleets, rewards, uptime, and role-specific dashboards from one cloud workspace.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  <a:defRPr sz="1700">
                <a:solidFill>
                  <a:srgbClr val="14233B"/>
                </a:solidFill>
                <a:latin typeface="Trebuchet MS"/>
              </a:defRPr>
            </a:pPr>
            <a:r>
              <a:t>• Use the agent to summarize what changed, what is underperforming, and where attention is needed.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  <a:defRPr sz="1700">
                <a:solidFill>
                  <a:srgbClr val="14233B"/>
                </a:solidFill>
                <a:latin typeface="Trebuchet MS"/>
              </a:defRPr>
            </a:pPr>
            <a:r>
              <a:t>• Treat DePIN management as ongoing operations work instead of occasional visits to siloed dashboards.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  <a:defRPr sz="1700">
                <a:solidFill>
                  <a:srgbClr val="14233B"/>
                </a:solidFill>
                <a:latin typeface="Trebuchet MS"/>
              </a:defRPr>
            </a:pPr>
            <a:r>
              <a:t>• Let the OS become the home surface for the long tail of ecosystem-specific tools.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508760"/>
            <a:ext cx="4892040" cy="4526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847088"/>
            <a:ext cx="4251960" cy="877824"/>
          </a:xfrm>
          <a:prstGeom prst="roundRect">
            <a:avLst>
              <a:gd name="adj" fmla="val 18000"/>
            </a:avLst>
          </a:prstGeom>
          <a:solidFill>
            <a:srgbClr val="EEF4F7"/>
          </a:solidFill>
          <a:ln>
            <a:solidFill>
              <a:srgbClr val="EE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993392"/>
            <a:ext cx="392277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14233B"/>
                </a:solidFill>
                <a:latin typeface="Trebuchet MS"/>
              </a:defRPr>
            </a:pPr>
            <a:r>
              <a:t>What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359152"/>
            <a:ext cx="39227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4F637D"/>
                </a:solidFill>
                <a:latin typeface="Trebuchet MS"/>
              </a:defRPr>
            </a:pPr>
            <a:r>
              <a:t>The user stops thinking in terms of "which tab do I need?" and starts thinking in terms of "what does my network need?"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944368"/>
            <a:ext cx="4251960" cy="877824"/>
          </a:xfrm>
          <a:prstGeom prst="roundRect">
            <a:avLst>
              <a:gd name="adj" fmla="val 18000"/>
            </a:avLst>
          </a:prstGeom>
          <a:solidFill>
            <a:srgbClr val="EEF4F7"/>
          </a:solidFill>
          <a:ln>
            <a:solidFill>
              <a:srgbClr val="EE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3090672"/>
            <a:ext cx="392277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14233B"/>
                </a:solidFill>
                <a:latin typeface="Trebuchet MS"/>
              </a:defRPr>
            </a:pPr>
            <a:r>
              <a:t>Why cloud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3456432"/>
            <a:ext cx="39227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4F637D"/>
                </a:solidFill>
                <a:latin typeface="Trebuchet MS"/>
              </a:defRPr>
            </a:pPr>
            <a:r>
              <a:t>DePIN operators need access anywhere, from any browser, without requiring the same local machine every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041648"/>
            <a:ext cx="4251960" cy="877824"/>
          </a:xfrm>
          <a:prstGeom prst="roundRect">
            <a:avLst>
              <a:gd name="adj" fmla="val 18000"/>
            </a:avLst>
          </a:prstGeom>
          <a:solidFill>
            <a:srgbClr val="EEF4F7"/>
          </a:solidFill>
          <a:ln>
            <a:solidFill>
              <a:srgbClr val="EE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187952"/>
            <a:ext cx="392277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14233B"/>
                </a:solidFill>
                <a:latin typeface="Trebuchet MS"/>
              </a:defRPr>
            </a:pPr>
            <a:r>
              <a:t>Why agentic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4553712"/>
            <a:ext cx="39227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4F637D"/>
                </a:solidFill>
                <a:latin typeface="Trebuchet MS"/>
              </a:defRPr>
            </a:pPr>
            <a:r>
              <a:t>A DePIN OS should not just display state. It should help interpret and route the operator's attention.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2823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4F637D"/>
                </a:solidFill>
                <a:latin typeface="Trebuchet MS"/>
              </a:defRPr>
            </a:pPr>
            <a:r>
              <a:t>Agent1c.ai  |  Solana Hackathon  |  Pitch Deck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4F637D"/>
                </a:solidFill>
                <a:latin typeface="Trebuchet M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20"/>
          </a:solidFill>
          <a:ln>
            <a:solidFill>
              <a:srgbClr val="09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64040" y="-1097280"/>
            <a:ext cx="3931920" cy="3931920"/>
          </a:xfrm>
          <a:prstGeom prst="ellipse">
            <a:avLst/>
          </a:prstGeom>
          <a:solidFill>
            <a:srgbClr val="10243C"/>
          </a:solidFill>
          <a:ln>
            <a:solidFill>
              <a:srgbClr val="10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68680" y="5257800"/>
            <a:ext cx="2286000" cy="2286000"/>
          </a:xfrm>
          <a:prstGeom prst="ellipse">
            <a:avLst/>
          </a:prstGeom>
          <a:solidFill>
            <a:srgbClr val="15233B"/>
          </a:solidFill>
          <a:ln>
            <a:solidFill>
              <a:srgbClr val="15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594360" cy="73152"/>
          </a:xfrm>
          <a:prstGeom prst="rect">
            <a:avLst/>
          </a:prstGeom>
          <a:solidFill>
            <a:srgbClr val="35E4C4"/>
          </a:solidFill>
          <a:ln>
            <a:solidFill>
              <a:srgbClr val="35E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98448" y="530352"/>
            <a:ext cx="420624" cy="73152"/>
          </a:xfrm>
          <a:prstGeom prst="rect">
            <a:avLst/>
          </a:prstGeom>
          <a:solidFill>
            <a:srgbClr val="FF7A59"/>
          </a:solidFill>
          <a:ln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73936" y="530352"/>
            <a:ext cx="329184" cy="73152"/>
          </a:xfrm>
          <a:prstGeom prst="rect">
            <a:avLst/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658368"/>
            <a:ext cx="2286000" cy="347472"/>
          </a:xfrm>
          <a:prstGeom prst="roundRect">
            <a:avLst>
              <a:gd name="adj" fmla="val 18000"/>
            </a:avLst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713232"/>
            <a:ext cx="20482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091120"/>
                </a:solidFill>
                <a:latin typeface="Trebuchet MS"/>
              </a:defRPr>
            </a:pPr>
            <a:r>
              <a:t>CLOUD ANYWHERE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32688"/>
            <a:ext cx="6492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F7F4EE"/>
                </a:solidFill>
                <a:latin typeface="Trebuchet MS"/>
              </a:defRPr>
            </a:pPr>
            <a:r>
              <a:t>The OS has to be accessible from anywhere.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5760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C5D2E2"/>
                </a:solidFill>
                <a:latin typeface="Trebuchet MS"/>
              </a:defRPr>
            </a:pPr>
            <a:r>
              <a:t>Cloud access is not a convenience detail. It is part of the category definition.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87168"/>
            <a:ext cx="52120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  <a:defRPr sz="1700">
                <a:solidFill>
                  <a:srgbClr val="C8D3E2"/>
                </a:solidFill>
                <a:latin typeface="Trebuchet MS"/>
              </a:defRPr>
            </a:pPr>
            <a:r>
              <a:t>• Users should be able to open their onchain workspace from any browser, on any machine.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  <a:defRPr sz="1700">
                <a:solidFill>
                  <a:srgbClr val="C8D3E2"/>
                </a:solidFill>
                <a:latin typeface="Trebuchet MS"/>
              </a:defRPr>
            </a:pPr>
            <a:r>
              <a:t>• The workspace should travel with the user, not be trapped on one laptop and one wallet extension session.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  <a:defRPr sz="1700">
                <a:solidFill>
                  <a:srgbClr val="C8D3E2"/>
                </a:solidFill>
                <a:latin typeface="Trebuchet MS"/>
              </a:defRPr>
            </a:pPr>
            <a:r>
              <a:t>• Cloud access is what turns Agent1c into a landing page for the ecosystem instead of a niche local tool.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011680"/>
            <a:ext cx="4389120" cy="932688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2157984"/>
            <a:ext cx="405993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35E4C4"/>
                </a:solidFill>
                <a:latin typeface="Trebuchet MS"/>
              </a:defRPr>
            </a:pPr>
            <a:r>
              <a:t>Anywhere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523744"/>
            <a:ext cx="4059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Open the OS where you are, not where your workstation happens to be.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182112"/>
            <a:ext cx="4389120" cy="932688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3328416"/>
            <a:ext cx="405993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69CFFF"/>
                </a:solidFill>
                <a:latin typeface="Trebuchet MS"/>
              </a:defRPr>
            </a:pPr>
            <a:r>
              <a:t>Ecosystem entry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3694176"/>
            <a:ext cx="4059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Dapps become reachable through one familiar home surface instead of hundreds of bookmarks.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4352544"/>
            <a:ext cx="4389120" cy="932688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4498848"/>
            <a:ext cx="405993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FFC857"/>
                </a:solidFill>
                <a:latin typeface="Trebuchet MS"/>
              </a:defRPr>
            </a:pPr>
            <a:r>
              <a:t>Agent continuity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864608"/>
            <a:ext cx="4059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The assistant retains context because the workspace itself is persistent.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2823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F7F4EE"/>
                </a:solidFill>
                <a:latin typeface="Trebuchet MS"/>
              </a:defRPr>
            </a:pPr>
            <a:r>
              <a:t>Agent1c.ai  |  Solana Hackathon  |  Pitch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F7F4EE"/>
                </a:solidFill>
                <a:latin typeface="Trebuchet M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solidFill>
              <a:srgbClr val="F7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7A59"/>
          </a:solidFill>
          <a:ln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594360"/>
            <a:ext cx="2240280" cy="2240280"/>
          </a:xfrm>
          <a:prstGeom prst="ellipse">
            <a:avLst/>
          </a:prstGeom>
          <a:solidFill>
            <a:srgbClr val="F1E6D8"/>
          </a:solidFill>
          <a:ln>
            <a:solidFill>
              <a:srgbClr val="F1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623560"/>
            <a:ext cx="1645920" cy="1645920"/>
          </a:xfrm>
          <a:prstGeom prst="ellipse">
            <a:avLst/>
          </a:prstGeom>
          <a:solidFill>
            <a:srgbClr val="F0E0D1"/>
          </a:solidFill>
          <a:ln>
            <a:solidFill>
              <a:srgbClr val="F0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2971800" cy="347472"/>
          </a:xfrm>
          <a:prstGeom prst="roundRect">
            <a:avLst>
              <a:gd name="adj" fmla="val 18000"/>
            </a:avLst>
          </a:prstGeom>
          <a:solidFill>
            <a:srgbClr val="FF7A59"/>
          </a:solidFill>
          <a:ln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621792"/>
            <a:ext cx="27340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F7F4EE"/>
                </a:solidFill>
                <a:latin typeface="Trebuchet MS"/>
              </a:defRPr>
            </a:pPr>
            <a:r>
              <a:t>ECOSYSTEM LANDING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32688"/>
            <a:ext cx="6492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4233B"/>
                </a:solidFill>
                <a:latin typeface="Trebuchet MS"/>
              </a:defRPr>
            </a:pPr>
            <a:r>
              <a:t>Today's app launcher becomes tomorrow's Solana dapp launcher.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5760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4F637D"/>
                </a:solidFill>
                <a:latin typeface="Trebuchet MS"/>
              </a:defRPr>
            </a:pPr>
            <a:r>
              <a:t>That is the bridge from the current product surface to the future category.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3154680" cy="1965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478024"/>
            <a:ext cx="2825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14233B"/>
                </a:solidFill>
                <a:latin typeface="Trebuchet MS"/>
              </a:defRPr>
            </a:pPr>
            <a:r>
              <a:t>Current repo 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843784"/>
            <a:ext cx="2825496" cy="1307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4F637D"/>
                </a:solidFill>
                <a:latin typeface="Trebuchet MS"/>
              </a:defRPr>
            </a:pPr>
            <a:r>
              <a:t>The product already has a desktop shell, an app launcher, browser windows, notes, and multiple app entries in `apps.json`.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2331720"/>
            <a:ext cx="3154680" cy="1965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9392" y="2478024"/>
            <a:ext cx="2825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14233B"/>
                </a:solidFill>
                <a:latin typeface="Trebuchet MS"/>
              </a:defRPr>
            </a:pPr>
            <a:r>
              <a:t>Future reinterpretation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2843784"/>
            <a:ext cx="2825496" cy="1307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4F637D"/>
                </a:solidFill>
                <a:latin typeface="Trebuchet MS"/>
              </a:defRPr>
            </a:pPr>
            <a:r>
              <a:t>Those app slots become curated Solana ecosystem entry points: DeFi, DePIN, infra, research, communities, and more.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331720"/>
            <a:ext cx="3154680" cy="1965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54112" y="2478024"/>
            <a:ext cx="2825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14233B"/>
                </a:solidFill>
                <a:latin typeface="Trebuchet MS"/>
              </a:defRPr>
            </a:pPr>
            <a:r>
              <a:t>Platform effect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4112" y="2843784"/>
            <a:ext cx="2825496" cy="1307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4F637D"/>
                </a:solidFill>
                <a:latin typeface="Trebuchet MS"/>
              </a:defRPr>
            </a:pPr>
            <a:r>
              <a:t>Users enter through Agent1c first, then flow into the ecosystem through a workspace that keeps context.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09160"/>
            <a:ext cx="10058400" cy="777240"/>
          </a:xfrm>
          <a:prstGeom prst="roundRect">
            <a:avLst>
              <a:gd name="adj" fmla="val 18000"/>
            </a:avLst>
          </a:prstGeom>
          <a:solidFill>
            <a:srgbClr val="14233B"/>
          </a:solidFill>
          <a:ln>
            <a:solidFill>
              <a:srgbClr val="14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56048"/>
            <a:ext cx="9555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F7F4EE"/>
                </a:solidFill>
                <a:latin typeface="Trebuchet MS"/>
              </a:defRPr>
            </a:pPr>
            <a:r>
              <a:t>This is why placeholder and self-made apps matter strategically: they prove the shell pattern that future Solana dapps can occupy.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2823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4F637D"/>
                </a:solidFill>
                <a:latin typeface="Trebuchet MS"/>
              </a:defRPr>
            </a:pPr>
            <a:r>
              <a:t>Agent1c.ai  |  Solana Hackathon  |  Pitch Deck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4F637D"/>
                </a:solidFill>
                <a:latin typeface="Trebuchet M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20"/>
          </a:solidFill>
          <a:ln>
            <a:solidFill>
              <a:srgbClr val="09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64040" y="-1097280"/>
            <a:ext cx="3931920" cy="3931920"/>
          </a:xfrm>
          <a:prstGeom prst="ellipse">
            <a:avLst/>
          </a:prstGeom>
          <a:solidFill>
            <a:srgbClr val="10243C"/>
          </a:solidFill>
          <a:ln>
            <a:solidFill>
              <a:srgbClr val="10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68680" y="5257800"/>
            <a:ext cx="2286000" cy="2286000"/>
          </a:xfrm>
          <a:prstGeom prst="ellipse">
            <a:avLst/>
          </a:prstGeom>
          <a:solidFill>
            <a:srgbClr val="15233B"/>
          </a:solidFill>
          <a:ln>
            <a:solidFill>
              <a:srgbClr val="15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594360" cy="73152"/>
          </a:xfrm>
          <a:prstGeom prst="rect">
            <a:avLst/>
          </a:prstGeom>
          <a:solidFill>
            <a:srgbClr val="35E4C4"/>
          </a:solidFill>
          <a:ln>
            <a:solidFill>
              <a:srgbClr val="35E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98448" y="530352"/>
            <a:ext cx="420624" cy="73152"/>
          </a:xfrm>
          <a:prstGeom prst="rect">
            <a:avLst/>
          </a:prstGeom>
          <a:solidFill>
            <a:srgbClr val="FF7A59"/>
          </a:solidFill>
          <a:ln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73936" y="530352"/>
            <a:ext cx="329184" cy="73152"/>
          </a:xfrm>
          <a:prstGeom prst="rect">
            <a:avLst/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658368"/>
            <a:ext cx="2286000" cy="347472"/>
          </a:xfrm>
          <a:prstGeom prst="roundRect">
            <a:avLst>
              <a:gd name="adj" fmla="val 18000"/>
            </a:avLst>
          </a:prstGeom>
          <a:solidFill>
            <a:srgbClr val="35E4C4"/>
          </a:solidFill>
          <a:ln>
            <a:solidFill>
              <a:srgbClr val="35E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713232"/>
            <a:ext cx="20482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091120"/>
                </a:solidFill>
                <a:latin typeface="Trebuchet MS"/>
              </a:defRPr>
            </a:pPr>
            <a:r>
              <a:t>WHY SOLANA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32688"/>
            <a:ext cx="6492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F7F4EE"/>
                </a:solidFill>
                <a:latin typeface="Trebuchet MS"/>
              </a:defRPr>
            </a:pPr>
            <a:r>
              <a:t>Solana is the right ecosystem for an operating-system thesis.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5760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C5D2E2"/>
                </a:solidFill>
                <a:latin typeface="Trebuchet MS"/>
              </a:defRPr>
            </a:pPr>
            <a:r>
              <a:t>The network already has the density, speed, and user behavior that make a unified onchain workspace compelling.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77440"/>
            <a:ext cx="5303520" cy="1298448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523744"/>
            <a:ext cx="49743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35E4C4"/>
                </a:solidFill>
                <a:latin typeface="Trebuchet MS"/>
              </a:defRPr>
            </a:pPr>
            <a:r>
              <a:t>Composability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2889504"/>
            <a:ext cx="49743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An OS layer matters most where users naturally move between many protocols and surfaces.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377440"/>
            <a:ext cx="5303520" cy="1298448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523744"/>
            <a:ext cx="49743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69CFFF"/>
                </a:solidFill>
                <a:latin typeface="Trebuchet MS"/>
              </a:defRPr>
            </a:pPr>
            <a:r>
              <a:t>Real-time usage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889504"/>
            <a:ext cx="49743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Fast networks create more reasons to stay in an always-on workspace instead of a one-off web page.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96512"/>
            <a:ext cx="5303520" cy="1298448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4242816"/>
            <a:ext cx="49743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FF7A59"/>
                </a:solidFill>
                <a:latin typeface="Trebuchet MS"/>
              </a:defRPr>
            </a:pPr>
            <a:r>
              <a:t>Wallet-native culture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608576"/>
            <a:ext cx="49743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Solana users already understand wallet-driven identity, which makes the OS login model legible.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096512"/>
            <a:ext cx="5303520" cy="1298448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4242816"/>
            <a:ext cx="49743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FFC857"/>
                </a:solidFill>
                <a:latin typeface="Trebuchet MS"/>
              </a:defRPr>
            </a:pPr>
            <a:r>
              <a:t>DeFi + DePIN breadth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608576"/>
            <a:ext cx="49743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Few ecosystems make the DeFi + DePIN combined category vision feel this native.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2823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F7F4EE"/>
                </a:solidFill>
                <a:latin typeface="Trebuchet MS"/>
              </a:defRPr>
            </a:pPr>
            <a:r>
              <a:t>Agent1c.ai  |  Solana Hackathon  |  Pitch Deck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F7F4EE"/>
                </a:solidFill>
                <a:latin typeface="Trebuchet M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5"/>
          </a:solidFill>
          <a:ln>
            <a:solidFill>
              <a:srgbClr val="EA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5E4C4"/>
          </a:solidFill>
          <a:ln>
            <a:solidFill>
              <a:srgbClr val="35E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594360"/>
            <a:ext cx="2240280" cy="2240280"/>
          </a:xfrm>
          <a:prstGeom prst="ellipse">
            <a:avLst/>
          </a:prstGeom>
          <a:solidFill>
            <a:srgbClr val="DEEDEF"/>
          </a:solidFill>
          <a:ln>
            <a:solidFill>
              <a:srgbClr val="DE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623560"/>
            <a:ext cx="1645920" cy="1645920"/>
          </a:xfrm>
          <a:prstGeom prst="ellipse">
            <a:avLst/>
          </a:prstGeom>
          <a:solidFill>
            <a:srgbClr val="DCEBEE"/>
          </a:solidFill>
          <a:ln>
            <a:solidFill>
              <a:srgbClr val="DC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2286000" cy="347472"/>
          </a:xfrm>
          <a:prstGeom prst="roundRect">
            <a:avLst>
              <a:gd name="adj" fmla="val 18000"/>
            </a:avLst>
          </a:prstGeom>
          <a:solidFill>
            <a:srgbClr val="35E4C4"/>
          </a:solidFill>
          <a:ln>
            <a:solidFill>
              <a:srgbClr val="35E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621792"/>
            <a:ext cx="20482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091120"/>
                </a:solidFill>
                <a:latin typeface="Trebuchet MS"/>
              </a:defRPr>
            </a:pPr>
            <a:r>
              <a:t>BUILD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32688"/>
            <a:ext cx="6492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4233B"/>
                </a:solidFill>
                <a:latin typeface="Trebuchet MS"/>
              </a:defRPr>
            </a:pPr>
            <a:r>
              <a:t>The path to the full vision is already visible.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5760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4F637D"/>
                </a:solidFill>
                <a:latin typeface="Trebuchet MS"/>
              </a:defRPr>
            </a:pPr>
            <a:r>
              <a:t>The category pitch is future-facing, but the build path can be explained step by step.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59152"/>
            <a:ext cx="2606040" cy="1554480"/>
          </a:xfrm>
          <a:prstGeom prst="roundRect">
            <a:avLst>
              <a:gd name="adj" fmla="val 18000"/>
            </a:avLst>
          </a:prstGeom>
          <a:solidFill>
            <a:srgbClr val="14233B"/>
          </a:solidFill>
          <a:ln>
            <a:solidFill>
              <a:srgbClr val="14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1" y="2523744"/>
            <a:ext cx="475488" cy="475488"/>
          </a:xfrm>
          <a:prstGeom prst="ellipse">
            <a:avLst/>
          </a:prstGeom>
          <a:solidFill>
            <a:srgbClr val="35E4C4"/>
          </a:solidFill>
          <a:ln>
            <a:solidFill>
              <a:srgbClr val="35E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256032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091120"/>
                </a:solidFill>
                <a:latin typeface="Trebuchet M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514600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F7F4EE"/>
                </a:solidFill>
                <a:latin typeface="Trebuchet MS"/>
              </a:defRPr>
            </a:pPr>
            <a:r>
              <a:t>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035808"/>
            <a:ext cx="2276856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9D5E3"/>
                </a:solidFill>
                <a:latin typeface="Trebuchet MS"/>
              </a:defRPr>
            </a:pPr>
            <a:r>
              <a:t>Cloud desktop shell, app launcher, browser, Solana sign-in, and read-only wallet context exist as the starting wedge.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5848" y="2359152"/>
            <a:ext cx="2606040" cy="1554480"/>
          </a:xfrm>
          <a:prstGeom prst="roundRect">
            <a:avLst>
              <a:gd name="adj" fmla="val 18000"/>
            </a:avLst>
          </a:prstGeom>
          <a:solidFill>
            <a:srgbClr val="14233B"/>
          </a:solidFill>
          <a:ln>
            <a:solidFill>
              <a:srgbClr val="14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523744"/>
            <a:ext cx="475488" cy="475488"/>
          </a:xfrm>
          <a:prstGeom prst="ellipse">
            <a:avLst/>
          </a:prstGeom>
          <a:solidFill>
            <a:srgbClr val="69CFFF"/>
          </a:solidFill>
          <a:ln>
            <a:solidFill>
              <a:srgbClr val="69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56032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091120"/>
                </a:solidFill>
                <a:latin typeface="Trebuchet M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5656" y="2514600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F7F4EE"/>
                </a:solidFill>
                <a:latin typeface="Trebuchet MS"/>
              </a:defRPr>
            </a:pPr>
            <a: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035808"/>
            <a:ext cx="2276856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9D5E3"/>
                </a:solidFill>
                <a:latin typeface="Trebuchet MS"/>
              </a:defRPr>
            </a:pPr>
            <a:r>
              <a:t>Turn launcher surfaces into ecosystem-native dapp entry points and deepen Solana-specific context.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71616" y="2359152"/>
            <a:ext cx="2606040" cy="1554480"/>
          </a:xfrm>
          <a:prstGeom prst="roundRect">
            <a:avLst>
              <a:gd name="adj" fmla="val 18000"/>
            </a:avLst>
          </a:prstGeom>
          <a:solidFill>
            <a:srgbClr val="14233B"/>
          </a:solidFill>
          <a:ln>
            <a:solidFill>
              <a:srgbClr val="14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36207" y="2523744"/>
            <a:ext cx="475488" cy="475488"/>
          </a:xfrm>
          <a:prstGeom prst="ellipse">
            <a:avLst/>
          </a:prstGeom>
          <a:solidFill>
            <a:srgbClr val="FF7A59"/>
          </a:solidFill>
          <a:ln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7" y="256032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091120"/>
                </a:solidFill>
                <a:latin typeface="Trebuchet M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2514600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F7F4EE"/>
                </a:solidFill>
                <a:latin typeface="Trebuchet MS"/>
              </a:defRPr>
            </a:pPr>
            <a:r>
              <a:t>Then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7" y="3035808"/>
            <a:ext cx="2276856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9D5E3"/>
                </a:solidFill>
                <a:latin typeface="Trebuchet MS"/>
              </a:defRPr>
            </a:pPr>
            <a:r>
              <a:t>Let Hitomi coordinate richer cross-app DeFi and DePIN workflows across the workspace.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87384" y="2359152"/>
            <a:ext cx="2606040" cy="1554480"/>
          </a:xfrm>
          <a:prstGeom prst="roundRect">
            <a:avLst>
              <a:gd name="adj" fmla="val 18000"/>
            </a:avLst>
          </a:prstGeom>
          <a:solidFill>
            <a:srgbClr val="14233B"/>
          </a:solidFill>
          <a:ln>
            <a:solidFill>
              <a:srgbClr val="14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51976" y="2523744"/>
            <a:ext cx="475488" cy="475488"/>
          </a:xfrm>
          <a:prstGeom prst="ellipse">
            <a:avLst/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51976" y="256032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091120"/>
                </a:solidFill>
                <a:latin typeface="Trebuchet M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7192" y="2514600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F7F4EE"/>
                </a:solidFill>
                <a:latin typeface="Trebuchet MS"/>
              </a:defRPr>
            </a:pPr>
            <a:r>
              <a:t>Later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51976" y="3035808"/>
            <a:ext cx="2276856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9D5E3"/>
                </a:solidFill>
                <a:latin typeface="Trebuchet MS"/>
              </a:defRPr>
            </a:pPr>
            <a:r>
              <a:t>Agent1c becomes the default browser home for serious onchain users and teams.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434840"/>
            <a:ext cx="10652760" cy="10058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68172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FF7A59"/>
                </a:solidFill>
                <a:latin typeface="Trebuchet MS"/>
              </a:defRPr>
            </a:pPr>
            <a:r>
              <a:t>Important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010912"/>
            <a:ext cx="9966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14233B"/>
                </a:solidFill>
                <a:latin typeface="Trebuchet MS"/>
              </a:defRPr>
            </a:pPr>
            <a:r>
              <a:t>The wedge does not need to be the full OS on day one. It only needs to make the OS feel inevitable.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2823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4F637D"/>
                </a:solidFill>
                <a:latin typeface="Trebuchet MS"/>
              </a:defRPr>
            </a:pPr>
            <a:r>
              <a:t>Agent1c.ai  |  Solana Hackathon  |  Pitch Deck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4F637D"/>
                </a:solidFill>
                <a:latin typeface="Trebuchet M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20"/>
          </a:solidFill>
          <a:ln>
            <a:solidFill>
              <a:srgbClr val="09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64040" y="-1097280"/>
            <a:ext cx="3931920" cy="3931920"/>
          </a:xfrm>
          <a:prstGeom prst="ellipse">
            <a:avLst/>
          </a:prstGeom>
          <a:solidFill>
            <a:srgbClr val="10243C"/>
          </a:solidFill>
          <a:ln>
            <a:solidFill>
              <a:srgbClr val="10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68680" y="5257800"/>
            <a:ext cx="2286000" cy="2286000"/>
          </a:xfrm>
          <a:prstGeom prst="ellipse">
            <a:avLst/>
          </a:prstGeom>
          <a:solidFill>
            <a:srgbClr val="15233B"/>
          </a:solidFill>
          <a:ln>
            <a:solidFill>
              <a:srgbClr val="15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594360" cy="73152"/>
          </a:xfrm>
          <a:prstGeom prst="rect">
            <a:avLst/>
          </a:prstGeom>
          <a:solidFill>
            <a:srgbClr val="35E4C4"/>
          </a:solidFill>
          <a:ln>
            <a:solidFill>
              <a:srgbClr val="35E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98448" y="530352"/>
            <a:ext cx="420624" cy="73152"/>
          </a:xfrm>
          <a:prstGeom prst="rect">
            <a:avLst/>
          </a:prstGeom>
          <a:solidFill>
            <a:srgbClr val="FF7A59"/>
          </a:solidFill>
          <a:ln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73936" y="530352"/>
            <a:ext cx="329184" cy="73152"/>
          </a:xfrm>
          <a:prstGeom prst="rect">
            <a:avLst/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658368"/>
            <a:ext cx="2286000" cy="347472"/>
          </a:xfrm>
          <a:prstGeom prst="roundRect">
            <a:avLst>
              <a:gd name="adj" fmla="val 18000"/>
            </a:avLst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713232"/>
            <a:ext cx="20482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091120"/>
                </a:solidFill>
                <a:latin typeface="Trebuchet MS"/>
              </a:defRPr>
            </a:pPr>
            <a:r>
              <a:t>PLATFORM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32688"/>
            <a:ext cx="6492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F7F4EE"/>
                </a:solidFill>
                <a:latin typeface="Trebuchet MS"/>
              </a:defRPr>
            </a:pPr>
            <a:r>
              <a:t>If Agent1c wins, it becomes more than an 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5760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C5D2E2"/>
                </a:solidFill>
                <a:latin typeface="Trebuchet MS"/>
              </a:defRPr>
            </a:pPr>
            <a:r>
              <a:t>It becomes distribution, workspace, context layer, and agentic shell for the Solana ecosystem.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534924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  <a:defRPr sz="1700">
                <a:solidFill>
                  <a:srgbClr val="C8D3E2"/>
                </a:solidFill>
                <a:latin typeface="Trebuchet MS"/>
              </a:defRPr>
            </a:pPr>
            <a:r>
              <a:t>• Users start from Agent1c instead of starting from a bookmark folder.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  <a:defRPr sz="1700">
                <a:solidFill>
                  <a:srgbClr val="C8D3E2"/>
                </a:solidFill>
                <a:latin typeface="Trebuchet MS"/>
              </a:defRPr>
            </a:pPr>
            <a:r>
              <a:t>• Protocols gain a richer home surface inside a context-preserving workspace.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  <a:defRPr sz="1700">
                <a:solidFill>
                  <a:srgbClr val="C8D3E2"/>
                </a:solidFill>
                <a:latin typeface="Trebuchet MS"/>
              </a:defRPr>
            </a:pPr>
            <a:r>
              <a:t>• The OS becomes the place where ecosystem discovery, operations, and execution all converge.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  <a:defRPr sz="1700">
                <a:solidFill>
                  <a:srgbClr val="C8D3E2"/>
                </a:solidFill>
                <a:latin typeface="Trebuchet MS"/>
              </a:defRPr>
            </a:pPr>
            <a:r>
              <a:t>• That gives Agent1c a chance to become the persistent front door to Solana.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057400"/>
            <a:ext cx="4434840" cy="960120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2203704"/>
            <a:ext cx="410565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35E4C4"/>
                </a:solidFill>
                <a:latin typeface="Trebuchet MS"/>
              </a:defRPr>
            </a:pPr>
            <a:r>
              <a:t>User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569464"/>
            <a:ext cx="410565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Less fragmentation. More continuity. Better operating leverage.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246120"/>
            <a:ext cx="4434840" cy="960120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3392424"/>
            <a:ext cx="410565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69CFFF"/>
                </a:solidFill>
                <a:latin typeface="Trebuchet MS"/>
              </a:defRPr>
            </a:pPr>
            <a:r>
              <a:t>Protocol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3758183"/>
            <a:ext cx="410565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A richer, agent-friendly environment than a standalone browser tab.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4434840"/>
            <a:ext cx="4434840" cy="960120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4581144"/>
            <a:ext cx="410565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FFC857"/>
                </a:solidFill>
                <a:latin typeface="Trebuchet MS"/>
              </a:defRPr>
            </a:pPr>
            <a:r>
              <a:t>Category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946904"/>
            <a:ext cx="410565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A real answer to the question: what does an onchain operating system actually look like?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2823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F7F4EE"/>
                </a:solidFill>
                <a:latin typeface="Trebuchet MS"/>
              </a:defRPr>
            </a:pPr>
            <a:r>
              <a:t>Agent1c.ai  |  Solana Hackathon  |  Pitch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F7F4EE"/>
                </a:solidFill>
                <a:latin typeface="Trebuchet M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solidFill>
              <a:srgbClr val="F7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7A59"/>
          </a:solidFill>
          <a:ln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594360"/>
            <a:ext cx="2240280" cy="2240280"/>
          </a:xfrm>
          <a:prstGeom prst="ellipse">
            <a:avLst/>
          </a:prstGeom>
          <a:solidFill>
            <a:srgbClr val="F1E6D8"/>
          </a:solidFill>
          <a:ln>
            <a:solidFill>
              <a:srgbClr val="F1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623560"/>
            <a:ext cx="1645920" cy="1645920"/>
          </a:xfrm>
          <a:prstGeom prst="ellipse">
            <a:avLst/>
          </a:prstGeom>
          <a:solidFill>
            <a:srgbClr val="F0E0D1"/>
          </a:solidFill>
          <a:ln>
            <a:solidFill>
              <a:srgbClr val="F0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2286000" cy="347472"/>
          </a:xfrm>
          <a:prstGeom prst="roundRect">
            <a:avLst>
              <a:gd name="adj" fmla="val 18000"/>
            </a:avLst>
          </a:prstGeom>
          <a:solidFill>
            <a:srgbClr val="FF7A59"/>
          </a:solidFill>
          <a:ln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621792"/>
            <a:ext cx="20482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F7F4EE"/>
                </a:solidFill>
                <a:latin typeface="Trebuchet MS"/>
              </a:defRPr>
            </a:pPr>
            <a: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60120"/>
            <a:ext cx="61264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4233B"/>
                </a:solidFill>
                <a:latin typeface="Trebuchet MS"/>
              </a:defRPr>
            </a:pPr>
            <a:r>
              <a:t>The future of onchain UX is not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4233B"/>
                </a:solidFill>
                <a:latin typeface="Trebuchet MS"/>
              </a:defRPr>
            </a:pPr>
            <a:r>
              <a:t>more tabs.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4233B"/>
                </a:solidFill>
                <a:latin typeface="Trebuchet MS"/>
              </a:defRPr>
            </a:pPr>
            <a:r>
              <a:t>It is an operating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53035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4233B"/>
                </a:solidFill>
                <a:latin typeface="Trebuchet MS"/>
              </a:defRPr>
            </a:pPr>
            <a:r>
              <a:t>• Agent1c.ai is that OS thesis for Solana.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4233B"/>
                </a:solidFill>
                <a:latin typeface="Trebuchet MS"/>
              </a:defRPr>
            </a:pPr>
            <a:r>
              <a:t>• DeFi and DePIN are where the need is sharpest.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4233B"/>
                </a:solidFill>
                <a:latin typeface="Trebuchet MS"/>
              </a:defRPr>
            </a:pPr>
            <a:r>
              <a:t>• The agentic layer is what makes the OS worth opening every 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298448"/>
            <a:ext cx="4297680" cy="43891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50608" y="1783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2400" b="1">
                <a:solidFill>
                  <a:srgbClr val="14233B"/>
                </a:solidFill>
                <a:latin typeface="Trebuchet MS"/>
              </a:defRPr>
            </a:pPr>
            <a:r>
              <a:t>Agent1c.ai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2212848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4F637D"/>
                </a:solidFill>
                <a:latin typeface="Trebuchet MS"/>
              </a:defRPr>
            </a:pPr>
            <a:r>
              <a:t>The Solana DeFi + DePIN 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761488"/>
            <a:ext cx="2523744" cy="457200"/>
          </a:xfrm>
          <a:prstGeom prst="roundRect">
            <a:avLst>
              <a:gd name="adj" fmla="val 18000"/>
            </a:avLst>
          </a:prstGeom>
          <a:solidFill>
            <a:srgbClr val="14233B"/>
          </a:solidFill>
          <a:ln>
            <a:solidFill>
              <a:srgbClr val="14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6096" y="2907792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F7F4EE"/>
                </a:solidFill>
                <a:latin typeface="Trebuchet MS"/>
              </a:defRPr>
            </a:pPr>
            <a:r>
              <a:t>Cloud-accessible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5512" y="3419856"/>
            <a:ext cx="2523744" cy="457200"/>
          </a:xfrm>
          <a:prstGeom prst="roundRect">
            <a:avLst>
              <a:gd name="adj" fmla="val 18000"/>
            </a:avLst>
          </a:prstGeom>
          <a:solidFill>
            <a:srgbClr val="14233B"/>
          </a:solidFill>
          <a:ln>
            <a:solidFill>
              <a:srgbClr val="14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6" y="3566160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F7F4EE"/>
                </a:solidFill>
                <a:latin typeface="Trebuchet MS"/>
              </a:defRPr>
            </a:pPr>
            <a:r>
              <a:t>Wallet-native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4078224"/>
            <a:ext cx="2523744" cy="457200"/>
          </a:xfrm>
          <a:prstGeom prst="roundRect">
            <a:avLst>
              <a:gd name="adj" fmla="val 18000"/>
            </a:avLst>
          </a:prstGeom>
          <a:solidFill>
            <a:srgbClr val="14233B"/>
          </a:solidFill>
          <a:ln>
            <a:solidFill>
              <a:srgbClr val="14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6096" y="4224528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F7F4EE"/>
                </a:solidFill>
                <a:latin typeface="Trebuchet MS"/>
              </a:defRPr>
            </a:pPr>
            <a:r>
              <a:t>Agentic by design</a:t>
            </a:r>
          </a:p>
        </p:txBody>
      </p:sp>
      <p:pic>
        <p:nvPicPr>
          <p:cNvPr id="19" name="Picture 18" descr="hedgey-clip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4736592"/>
            <a:ext cx="1005840" cy="10078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642823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4F637D"/>
                </a:solidFill>
                <a:latin typeface="Trebuchet MS"/>
              </a:defRPr>
            </a:pPr>
            <a:r>
              <a:t>Agent1c.ai  |  Solana Hackathon  |  Pitch Deck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4F637D"/>
                </a:solidFill>
                <a:latin typeface="Trebuchet M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20"/>
          </a:solidFill>
          <a:ln>
            <a:solidFill>
              <a:srgbClr val="09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64040" y="-1097280"/>
            <a:ext cx="3931920" cy="3931920"/>
          </a:xfrm>
          <a:prstGeom prst="ellipse">
            <a:avLst/>
          </a:prstGeom>
          <a:solidFill>
            <a:srgbClr val="10243C"/>
          </a:solidFill>
          <a:ln>
            <a:solidFill>
              <a:srgbClr val="10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68680" y="5257800"/>
            <a:ext cx="2286000" cy="2286000"/>
          </a:xfrm>
          <a:prstGeom prst="ellipse">
            <a:avLst/>
          </a:prstGeom>
          <a:solidFill>
            <a:srgbClr val="15233B"/>
          </a:solidFill>
          <a:ln>
            <a:solidFill>
              <a:srgbClr val="15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594360" cy="73152"/>
          </a:xfrm>
          <a:prstGeom prst="rect">
            <a:avLst/>
          </a:prstGeom>
          <a:solidFill>
            <a:srgbClr val="35E4C4"/>
          </a:solidFill>
          <a:ln>
            <a:solidFill>
              <a:srgbClr val="35E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98448" y="530352"/>
            <a:ext cx="420624" cy="73152"/>
          </a:xfrm>
          <a:prstGeom prst="rect">
            <a:avLst/>
          </a:prstGeom>
          <a:solidFill>
            <a:srgbClr val="FF7A59"/>
          </a:solidFill>
          <a:ln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73936" y="530352"/>
            <a:ext cx="329184" cy="73152"/>
          </a:xfrm>
          <a:prstGeom prst="rect">
            <a:avLst/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658368"/>
            <a:ext cx="2286000" cy="347472"/>
          </a:xfrm>
          <a:prstGeom prst="roundRect">
            <a:avLst>
              <a:gd name="adj" fmla="val 18000"/>
            </a:avLst>
          </a:prstGeom>
          <a:solidFill>
            <a:srgbClr val="69CFFF"/>
          </a:solidFill>
          <a:ln>
            <a:solidFill>
              <a:srgbClr val="69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713232"/>
            <a:ext cx="20482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091120"/>
                </a:solidFill>
                <a:latin typeface="Trebuchet MS"/>
              </a:defRPr>
            </a:pPr>
            <a:r>
              <a:t>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32688"/>
            <a:ext cx="6492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F7F4EE"/>
                </a:solidFill>
                <a:latin typeface="Trebuchet MS"/>
              </a:defRPr>
            </a:pPr>
            <a:r>
              <a:t>What already exists in the repo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5760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C5D2E2"/>
                </a:solidFill>
                <a:latin typeface="Trebuchet MS"/>
              </a:defRPr>
            </a:pPr>
            <a:r>
              <a:t>The vision is future-state, but it is being built on real product surfaces that already exist.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12848"/>
            <a:ext cx="2331720" cy="2788920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359152"/>
            <a:ext cx="20025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35E4C4"/>
                </a:solidFill>
                <a:latin typeface="Trebuchet MS"/>
              </a:defRPr>
            </a:pPr>
            <a:r>
              <a:t>Desktop shell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2724912"/>
            <a:ext cx="2002536" cy="2130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Static web desktop, window manager, browser, notes, launcher, and cloud runtime.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2212848"/>
            <a:ext cx="2331720" cy="2788920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6472" y="2359152"/>
            <a:ext cx="20025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35E4C4"/>
                </a:solidFill>
                <a:latin typeface="Trebuchet MS"/>
              </a:defRPr>
            </a:pPr>
            <a:r>
              <a:t>Cloud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6472" y="2724912"/>
            <a:ext cx="2002536" cy="2130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Hosted `.ai` flow with cloud auth and managed AI runtime.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2212848"/>
            <a:ext cx="2331720" cy="2788920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2359152"/>
            <a:ext cx="20025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35E4C4"/>
                </a:solidFill>
                <a:latin typeface="Trebuchet MS"/>
              </a:defRPr>
            </a:pPr>
            <a:r>
              <a:t>App launcher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2724912"/>
            <a:ext cx="2002536" cy="2130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`apps.json` already defines launcher surfaces that can evolve into dapp surfaces.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5480" y="2212848"/>
            <a:ext cx="2331720" cy="2788920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0072" y="2359152"/>
            <a:ext cx="20025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35E4C4"/>
                </a:solidFill>
                <a:latin typeface="Trebuchet MS"/>
              </a:defRPr>
            </a:pPr>
            <a:r>
              <a:t>Solana wedge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72" y="2724912"/>
            <a:ext cx="2002536" cy="2130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Solana sign-in, wallet identity parsing, and read-only wallet tools are already implemented.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2823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F7F4EE"/>
                </a:solidFill>
                <a:latin typeface="Trebuchet MS"/>
              </a:defRPr>
            </a:pPr>
            <a:r>
              <a:t>Agent1c.ai  |  Solana Hackathon  |  Appendix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F7F4EE"/>
                </a:solidFill>
                <a:latin typeface="Trebuchet M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5"/>
          </a:solidFill>
          <a:ln>
            <a:solidFill>
              <a:srgbClr val="EA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5E4C4"/>
          </a:solidFill>
          <a:ln>
            <a:solidFill>
              <a:srgbClr val="35E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594360"/>
            <a:ext cx="2240280" cy="2240280"/>
          </a:xfrm>
          <a:prstGeom prst="ellipse">
            <a:avLst/>
          </a:prstGeom>
          <a:solidFill>
            <a:srgbClr val="DEEDEF"/>
          </a:solidFill>
          <a:ln>
            <a:solidFill>
              <a:srgbClr val="DE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623560"/>
            <a:ext cx="1645920" cy="1645920"/>
          </a:xfrm>
          <a:prstGeom prst="ellipse">
            <a:avLst/>
          </a:prstGeom>
          <a:solidFill>
            <a:srgbClr val="DCEBEE"/>
          </a:solidFill>
          <a:ln>
            <a:solidFill>
              <a:srgbClr val="DC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2286000" cy="347472"/>
          </a:xfrm>
          <a:prstGeom prst="roundRect">
            <a:avLst>
              <a:gd name="adj" fmla="val 18000"/>
            </a:avLst>
          </a:prstGeom>
          <a:solidFill>
            <a:srgbClr val="69CFFF"/>
          </a:solidFill>
          <a:ln>
            <a:solidFill>
              <a:srgbClr val="69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621792"/>
            <a:ext cx="20482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091120"/>
                </a:solidFill>
                <a:latin typeface="Trebuchet MS"/>
              </a:defRPr>
            </a:pPr>
            <a:r>
              <a:t>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32688"/>
            <a:ext cx="6492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4233B"/>
                </a:solidFill>
                <a:latin typeface="Trebuchet MS"/>
              </a:defRPr>
            </a:pPr>
            <a:r>
              <a:t>Future system architecture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5760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4F637D"/>
                </a:solidFill>
                <a:latin typeface="Trebuchet MS"/>
              </a:defRPr>
            </a:pPr>
            <a:r>
              <a:t>A simple way to explain how the end-state product hangs together.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2468880" cy="19202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615184"/>
            <a:ext cx="21396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14233B"/>
                </a:solidFill>
                <a:latin typeface="Trebuchet MS"/>
              </a:defRPr>
            </a:pPr>
            <a:r>
              <a:t>Wallet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980944"/>
            <a:ext cx="2139696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4F637D"/>
                </a:solidFill>
                <a:latin typeface="Trebuchet MS"/>
              </a:defRPr>
            </a:pPr>
            <a:r>
              <a:t>The wallet anchors the user's onchain identity, continuity, and permissions.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468880"/>
            <a:ext cx="2468880" cy="19202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2615184"/>
            <a:ext cx="21396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14233B"/>
                </a:solidFill>
                <a:latin typeface="Trebuchet MS"/>
              </a:defRPr>
            </a:pPr>
            <a:r>
              <a:t>Agentic desktop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980944"/>
            <a:ext cx="2139696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4F637D"/>
                </a:solidFill>
                <a:latin typeface="Trebuchet MS"/>
              </a:defRPr>
            </a:pPr>
            <a:r>
              <a:t>One cloud workspace with windows, memory, browser, notes, and launcher surfaces.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468880"/>
            <a:ext cx="2468880" cy="19202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1" y="2615184"/>
            <a:ext cx="21396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14233B"/>
                </a:solidFill>
                <a:latin typeface="Trebuchet MS"/>
              </a:defRPr>
            </a:pPr>
            <a:r>
              <a:t>Dapp surfaces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1" y="2980944"/>
            <a:ext cx="2139696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4F637D"/>
                </a:solidFill>
                <a:latin typeface="Trebuchet MS"/>
              </a:defRPr>
            </a:pPr>
            <a:r>
              <a:t>The launcher opens ecosystem-native DeFi and DePIN app experiences inside the 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2468880"/>
            <a:ext cx="2468880" cy="19202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7112" y="2615184"/>
            <a:ext cx="21396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14233B"/>
                </a:solidFill>
                <a:latin typeface="Trebuchet MS"/>
              </a:defRPr>
            </a:pPr>
            <a:r>
              <a:t>Agent orchestration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2" y="2980944"/>
            <a:ext cx="2139696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4F637D"/>
                </a:solidFill>
                <a:latin typeface="Trebuchet MS"/>
              </a:defRPr>
            </a:pPr>
            <a:r>
              <a:t>Hitomi reasons across the workspace and helps users navigate multi-app tasks.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246120"/>
            <a:ext cx="164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2000" b="1">
                <a:solidFill>
                  <a:srgbClr val="FF7A59"/>
                </a:solidFill>
                <a:latin typeface="Trebuchet MS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246120"/>
            <a:ext cx="164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2000" b="1">
                <a:solidFill>
                  <a:srgbClr val="FF7A59"/>
                </a:solidFill>
                <a:latin typeface="Trebuchet MS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246120"/>
            <a:ext cx="164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2000" b="1">
                <a:solidFill>
                  <a:srgbClr val="FF7A59"/>
                </a:solidFill>
                <a:latin typeface="Trebuchet M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983480"/>
            <a:ext cx="10561320" cy="713232"/>
          </a:xfrm>
          <a:prstGeom prst="roundRect">
            <a:avLst>
              <a:gd name="adj" fmla="val 18000"/>
            </a:avLst>
          </a:prstGeom>
          <a:solidFill>
            <a:srgbClr val="14233B"/>
          </a:solidFill>
          <a:ln>
            <a:solidFill>
              <a:srgbClr val="14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212080"/>
            <a:ext cx="10012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F7F4EE"/>
                </a:solidFill>
                <a:latin typeface="Trebuchet MS"/>
              </a:defRPr>
            </a:pPr>
            <a:r>
              <a:t>That is the category claim in one line: a wallet-native cloud desktop that becomes the operating system for the Solana ecosystem.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2823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4F637D"/>
                </a:solidFill>
                <a:latin typeface="Trebuchet MS"/>
              </a:defRPr>
            </a:pPr>
            <a:r>
              <a:t>Agent1c.ai  |  Solana Hackathon  |  Appendix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4F637D"/>
                </a:solidFill>
                <a:latin typeface="Trebuchet M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20"/>
          </a:solidFill>
          <a:ln>
            <a:solidFill>
              <a:srgbClr val="09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64040" y="-1097280"/>
            <a:ext cx="3931920" cy="3931920"/>
          </a:xfrm>
          <a:prstGeom prst="ellipse">
            <a:avLst/>
          </a:prstGeom>
          <a:solidFill>
            <a:srgbClr val="10243C"/>
          </a:solidFill>
          <a:ln>
            <a:solidFill>
              <a:srgbClr val="10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68680" y="5257800"/>
            <a:ext cx="2286000" cy="2286000"/>
          </a:xfrm>
          <a:prstGeom prst="ellipse">
            <a:avLst/>
          </a:prstGeom>
          <a:solidFill>
            <a:srgbClr val="15233B"/>
          </a:solidFill>
          <a:ln>
            <a:solidFill>
              <a:srgbClr val="15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594360" cy="73152"/>
          </a:xfrm>
          <a:prstGeom prst="rect">
            <a:avLst/>
          </a:prstGeom>
          <a:solidFill>
            <a:srgbClr val="35E4C4"/>
          </a:solidFill>
          <a:ln>
            <a:solidFill>
              <a:srgbClr val="35E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98448" y="530352"/>
            <a:ext cx="420624" cy="73152"/>
          </a:xfrm>
          <a:prstGeom prst="rect">
            <a:avLst/>
          </a:prstGeom>
          <a:solidFill>
            <a:srgbClr val="FF7A59"/>
          </a:solidFill>
          <a:ln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73936" y="530352"/>
            <a:ext cx="329184" cy="73152"/>
          </a:xfrm>
          <a:prstGeom prst="rect">
            <a:avLst/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658368"/>
            <a:ext cx="2286000" cy="347472"/>
          </a:xfrm>
          <a:prstGeom prst="roundRect">
            <a:avLst>
              <a:gd name="adj" fmla="val 18000"/>
            </a:avLst>
          </a:prstGeom>
          <a:solidFill>
            <a:srgbClr val="69CFFF"/>
          </a:solidFill>
          <a:ln>
            <a:solidFill>
              <a:srgbClr val="69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713232"/>
            <a:ext cx="20482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091120"/>
                </a:solidFill>
                <a:latin typeface="Trebuchet MS"/>
              </a:defRPr>
            </a:pPr>
            <a:r>
              <a:t>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32688"/>
            <a:ext cx="6492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F7F4EE"/>
                </a:solidFill>
                <a:latin typeface="Trebuchet MS"/>
              </a:defRPr>
            </a:pPr>
            <a:r>
              <a:t>Reserved research blocks for the final hackathon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5760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C5D2E2"/>
                </a:solidFill>
                <a:latin typeface="Trebuchet MS"/>
              </a:defRPr>
            </a:pPr>
            <a:r>
              <a:t>These are intentionally structured now so we can layer in external validation without rewriting the whole narrative.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31720"/>
            <a:ext cx="4663440" cy="1234440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478024"/>
            <a:ext cx="433425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69CFFF"/>
                </a:solidFill>
                <a:latin typeface="Trebuchet MS"/>
              </a:defRPr>
            </a:pPr>
            <a:r>
              <a:t>Market sizing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2843784"/>
            <a:ext cx="433425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TAM / SAM / SOM or whichever ecosystem framing we want judges to see.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331720"/>
            <a:ext cx="4663440" cy="1234440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1" y="2478024"/>
            <a:ext cx="433425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69CFFF"/>
                </a:solidFill>
                <a:latin typeface="Trebuchet MS"/>
              </a:defRPr>
            </a:pPr>
            <a:r>
              <a:t>Competitive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1" y="2843784"/>
            <a:ext cx="433425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Wallets, dashboards, agent products, browser extensions, and adjacent OS-like tools.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05072"/>
            <a:ext cx="4663440" cy="1234440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4151376"/>
            <a:ext cx="433425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69CFFF"/>
                </a:solidFill>
                <a:latin typeface="Trebuchet MS"/>
              </a:defRPr>
            </a:pPr>
            <a:r>
              <a:t>Traction 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517136"/>
            <a:ext cx="433425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Metrics, demos, user quotes, ecosystem partner interest, or usage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4005072"/>
            <a:ext cx="4663440" cy="1234440"/>
          </a:xfrm>
          <a:prstGeom prst="roundRect">
            <a:avLst>
              <a:gd name="adj" fmla="val 18000"/>
            </a:avLst>
          </a:prstGeom>
          <a:solidFill>
            <a:srgbClr val="16243C"/>
          </a:solidFill>
          <a:ln>
            <a:solidFill>
              <a:srgbClr val="16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9631" y="4151376"/>
            <a:ext cx="433425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69CFFF"/>
                </a:solidFill>
                <a:latin typeface="Trebuchet MS"/>
              </a:defRPr>
            </a:pPr>
            <a:r>
              <a:t>Go-to-market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1" y="4517136"/>
            <a:ext cx="433425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C8D3E2"/>
                </a:solidFill>
                <a:latin typeface="Trebuchet MS"/>
              </a:defRPr>
            </a:pPr>
            <a:r>
              <a:t>Who adopts first: DeFi power users, DePIN operators, onchain teams, or ecosystem-native creators.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2823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F7F4EE"/>
                </a:solidFill>
                <a:latin typeface="Trebuchet MS"/>
              </a:defRPr>
            </a:pPr>
            <a:r>
              <a:t>Agent1c.ai  |  Solana Hackathon  |  Appendix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F7F4EE"/>
                </a:solidFill>
                <a:latin typeface="Trebuchet M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