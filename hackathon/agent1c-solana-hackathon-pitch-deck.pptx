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00" y="-731520"/>
            <a:ext cx="2651760" cy="2651760"/>
          </a:xfrm>
          <a:prstGeom prst="ellipse">
            <a:avLst/>
          </a:prstGeom>
          <a:solidFill>
            <a:srgbClr val="12233D"/>
          </a:solidFill>
          <a:ln>
            <a:solidFill>
              <a:srgbClr val="12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2920" y="5577840"/>
            <a:ext cx="1508760" cy="1508760"/>
          </a:xfrm>
          <a:prstGeom prst="ellipse">
            <a:avLst/>
          </a:prstGeom>
          <a:solidFill>
            <a:srgbClr val="16243C"/>
          </a:solidFill>
          <a:ln>
            <a:solidFill>
              <a:srgbClr val="162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66928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1872" y="530352"/>
            <a:ext cx="384048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0784" y="530352"/>
            <a:ext cx="292608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713232"/>
            <a:ext cx="2331720" cy="347472"/>
          </a:xfrm>
          <a:prstGeom prst="roundRect">
            <a:avLst>
              <a:gd name="adj" fmla="val 18000"/>
            </a:avLst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768096"/>
            <a:ext cx="21122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SOLANA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26187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100" b="1">
                <a:solidFill>
                  <a:srgbClr val="F7F4EE"/>
                </a:solidFill>
                <a:latin typeface="Trebuchet MS"/>
              </a:defRPr>
            </a:pPr>
            <a:r>
              <a:t>Agent1c.ai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400" b="1">
                <a:solidFill>
                  <a:srgbClr val="35E4C4"/>
                </a:solidFill>
                <a:latin typeface="Trebuchet MS"/>
              </a:defRPr>
            </a:pPr>
            <a:r>
              <a:t>The Solana DeFi + DePIN 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7860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C8D3E2"/>
                </a:solidFill>
                <a:latin typeface="Trebuchet MS"/>
              </a:defRPr>
            </a:pPr>
            <a:r>
              <a:t>A cloud-accessible operating system for your entire onchain life.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C8D3E2"/>
                </a:solidFill>
                <a:latin typeface="Trebuchet MS"/>
              </a:defRPr>
            </a:pPr>
            <a:r>
              <a:t>One landing page for Solana dapps. One agentic workspace for everything after login.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69080"/>
            <a:ext cx="1737360" cy="384048"/>
          </a:xfrm>
          <a:prstGeom prst="roundRect">
            <a:avLst>
              <a:gd name="adj" fmla="val 18000"/>
            </a:avLst>
          </a:prstGeom>
          <a:solidFill>
            <a:srgbClr val="12233D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" y="4178808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50" b="0">
                <a:solidFill>
                  <a:srgbClr val="F7F4EE"/>
                </a:solidFill>
                <a:latin typeface="Trebuchet MS"/>
              </a:defRPr>
            </a:pPr>
            <a:r>
              <a:t>DeFi workspace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0" y="4069080"/>
            <a:ext cx="1737360" cy="384048"/>
          </a:xfrm>
          <a:prstGeom prst="roundRect">
            <a:avLst>
              <a:gd name="adj" fmla="val 18000"/>
            </a:avLst>
          </a:prstGeom>
          <a:solidFill>
            <a:srgbClr val="12233D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4178808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50" b="0">
                <a:solidFill>
                  <a:srgbClr val="F7F4EE"/>
                </a:solidFill>
                <a:latin typeface="Trebuchet MS"/>
              </a:defRPr>
            </a:pPr>
            <a:r>
              <a:t>DePIN control plane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069080"/>
            <a:ext cx="1737360" cy="384048"/>
          </a:xfrm>
          <a:prstGeom prst="roundRect">
            <a:avLst>
              <a:gd name="adj" fmla="val 18000"/>
            </a:avLst>
          </a:prstGeom>
          <a:solidFill>
            <a:srgbClr val="12233D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4178808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50" b="0">
                <a:solidFill>
                  <a:srgbClr val="F7F4EE"/>
                </a:solidFill>
                <a:latin typeface="Trebuchet MS"/>
              </a:defRPr>
            </a:pPr>
            <a:r>
              <a:t>Agentic dapp 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54880"/>
            <a:ext cx="5806440" cy="8686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5257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The pitch: make Agent1c the place users open first when they want to do anything serious on Solana.</a:t>
            </a:r>
          </a:p>
        </p:txBody>
      </p:sp>
      <p:sp>
        <p:nvSpPr>
          <p:cNvPr id="21" name="Oval 20"/>
          <p:cNvSpPr/>
          <p:nvPr/>
        </p:nvSpPr>
        <p:spPr>
          <a:xfrm>
            <a:off x="8046720" y="1143000"/>
            <a:ext cx="2743200" cy="2743200"/>
          </a:xfrm>
          <a:prstGeom prst="ellipse">
            <a:avLst/>
          </a:prstGeom>
          <a:solidFill>
            <a:srgbClr val="123A45"/>
          </a:solidFill>
          <a:ln>
            <a:solidFill>
              <a:srgbClr val="123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66760" y="1463040"/>
            <a:ext cx="2103120" cy="2103120"/>
          </a:xfrm>
          <a:prstGeom prst="ellipse">
            <a:avLst/>
          </a:prstGeom>
          <a:solidFill>
            <a:srgbClr val="1C4953"/>
          </a:solidFill>
          <a:ln>
            <a:solidFill>
              <a:srgbClr val="1C4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hedgey-clip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1344168"/>
            <a:ext cx="2084831" cy="208891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645152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600" b="1">
                <a:solidFill>
                  <a:srgbClr val="C8D3E2"/>
                </a:solidFill>
                <a:latin typeface="Trebuchet MS"/>
              </a:defRPr>
            </a:pPr>
            <a:r>
              <a:t>Not another wallet.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1">
                <a:solidFill>
                  <a:srgbClr val="C8D3E2"/>
                </a:solidFill>
                <a:latin typeface="Trebuchet MS"/>
              </a:defRPr>
            </a:pPr>
            <a:r>
              <a:t>Not another dashboard.</a:t>
            </a:r>
          </a:p>
          <a:p>
            <a:pPr algn="ctr">
              <a:lnSpc>
                <a:spcPct val="108000"/>
              </a:lnSpc>
              <a:spcAft>
                <a:spcPts val="0"/>
              </a:spcAft>
              <a:defRPr sz="1600" b="1">
                <a:solidFill>
                  <a:srgbClr val="C8D3E2"/>
                </a:solidFill>
                <a:latin typeface="Trebuchet MS"/>
              </a:defRPr>
            </a:pPr>
            <a:r>
              <a:t>An operating system.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solidFill>
              <a:srgbClr val="F7F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-411480"/>
            <a:ext cx="1737360" cy="1737360"/>
          </a:xfrm>
          <a:prstGeom prst="ellipse">
            <a:avLst/>
          </a:prstGeom>
          <a:solidFill>
            <a:srgbClr val="F0E5D9"/>
          </a:solidFill>
          <a:ln>
            <a:solidFill>
              <a:srgbClr val="F0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11480" y="5623560"/>
            <a:ext cx="1234440" cy="1234440"/>
          </a:xfrm>
          <a:prstGeom prst="ellipse">
            <a:avLst/>
          </a:prstGeom>
          <a:solidFill>
            <a:srgbClr val="F0E0D1"/>
          </a:solidFill>
          <a:ln>
            <a:solidFill>
              <a:srgbClr val="F0E0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62179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F7F4EE"/>
                </a:solidFill>
                <a:latin typeface="Trebuchet MS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14233B"/>
                </a:solidFill>
                <a:latin typeface="Trebuchet MS"/>
              </a:defRPr>
            </a:pPr>
            <a:r>
              <a:t>Solana users still live in fragments.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E637C"/>
                </a:solidFill>
                <a:latin typeface="Trebuchet MS"/>
              </a:defRPr>
            </a:pPr>
            <a:r>
              <a:t>DeFi and DePIN multiply the number of surfaces a serious user has to manage.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  <a:defRPr sz="1700">
                <a:solidFill>
                  <a:srgbClr val="14233B"/>
                </a:solidFill>
                <a:latin typeface="Trebuchet MS"/>
              </a:defRPr>
            </a:pPr>
            <a:r>
              <a:t>• Wallets, dapps, explorers, dashboards, chats, and notes all hold separate slices of context.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defRPr sz="1700">
                <a:solidFill>
                  <a:srgbClr val="14233B"/>
                </a:solidFill>
                <a:latin typeface="Trebuchet MS"/>
              </a:defRPr>
            </a:pPr>
            <a:r>
              <a:t>• Users manually stitch together what happened, what matters, and what to do next.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defRPr sz="1700">
                <a:solidFill>
                  <a:srgbClr val="14233B"/>
                </a:solidFill>
                <a:latin typeface="Trebuchet MS"/>
              </a:defRPr>
            </a:pPr>
            <a:r>
              <a:t>• The more onchain activity grows, the worse the tab sprawl 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468880"/>
            <a:ext cx="4389120" cy="868680"/>
          </a:xfrm>
          <a:prstGeom prst="roundRect">
            <a:avLst>
              <a:gd name="adj" fmla="val 18000"/>
            </a:avLst>
          </a:prstGeom>
          <a:solidFill>
            <a:srgbClr val="EDF4F7"/>
          </a:solidFill>
          <a:ln>
            <a:solidFill>
              <a:srgbClr val="ED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615184"/>
            <a:ext cx="405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Wallet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944368"/>
            <a:ext cx="4059935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Good for signing. Weak at memory and workflow.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20440"/>
            <a:ext cx="4389120" cy="868680"/>
          </a:xfrm>
          <a:prstGeom prst="roundRect">
            <a:avLst>
              <a:gd name="adj" fmla="val 18000"/>
            </a:avLst>
          </a:prstGeom>
          <a:solidFill>
            <a:srgbClr val="EDF4F7"/>
          </a:solidFill>
          <a:ln>
            <a:solidFill>
              <a:srgbClr val="ED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666744"/>
            <a:ext cx="405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Single dapp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3995928"/>
            <a:ext cx="4059935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Strong inside one silo. Weak across the ecosystem.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572000"/>
            <a:ext cx="4389120" cy="868680"/>
          </a:xfrm>
          <a:prstGeom prst="roundRect">
            <a:avLst>
              <a:gd name="adj" fmla="val 18000"/>
            </a:avLst>
          </a:prstGeom>
          <a:solidFill>
            <a:srgbClr val="EDF4F7"/>
          </a:solidFill>
          <a:ln>
            <a:solidFill>
              <a:srgbClr val="ED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4718304"/>
            <a:ext cx="405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5047488"/>
            <a:ext cx="4059935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Observes state, but rarely helps operate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00" y="-731520"/>
            <a:ext cx="2651760" cy="2651760"/>
          </a:xfrm>
          <a:prstGeom prst="ellipse">
            <a:avLst/>
          </a:prstGeom>
          <a:solidFill>
            <a:srgbClr val="12233D"/>
          </a:solidFill>
          <a:ln>
            <a:solidFill>
              <a:srgbClr val="12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2920" y="5577840"/>
            <a:ext cx="1508760" cy="1508760"/>
          </a:xfrm>
          <a:prstGeom prst="ellipse">
            <a:avLst/>
          </a:prstGeom>
          <a:solidFill>
            <a:srgbClr val="16243C"/>
          </a:solidFill>
          <a:ln>
            <a:solidFill>
              <a:srgbClr val="162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66928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1872" y="530352"/>
            <a:ext cx="384048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0784" y="530352"/>
            <a:ext cx="292608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71323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F7F4EE"/>
                </a:solidFill>
                <a:latin typeface="Trebuchet MS"/>
              </a:defRPr>
            </a:pPr>
            <a:r>
              <a:t>Imagine an operating system for your onchain life.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5D3E3"/>
                </a:solidFill>
                <a:latin typeface="Trebuchet MS"/>
              </a:defRPr>
            </a:pPr>
            <a:r>
              <a:t>That framing changes the product from a tool into a home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97480"/>
            <a:ext cx="48920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  <a:defRPr sz="1700">
                <a:solidFill>
                  <a:srgbClr val="C8D3E2"/>
                </a:solidFill>
                <a:latin typeface="Trebuchet MS"/>
              </a:defRPr>
            </a:pPr>
            <a:r>
              <a:t>• Your wallet becomes identity, not just a popup.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defRPr sz="1700">
                <a:solidFill>
                  <a:srgbClr val="C8D3E2"/>
                </a:solidFill>
                <a:latin typeface="Trebuchet MS"/>
              </a:defRPr>
            </a:pPr>
            <a:r>
              <a:t>• Your dapps become windows inside one desktop.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defRPr sz="1700">
                <a:solidFill>
                  <a:srgbClr val="C8D3E2"/>
                </a:solidFill>
                <a:latin typeface="Trebuchet MS"/>
              </a:defRPr>
            </a:pPr>
            <a:r>
              <a:t>• Your notes, alerts, history, and context live in one place.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defRPr sz="1700">
                <a:solidFill>
                  <a:srgbClr val="C8D3E2"/>
                </a:solidFill>
                <a:latin typeface="Trebuchet MS"/>
              </a:defRPr>
            </a:pPr>
            <a:r>
              <a:t>• Your AI becomes part of the OS, not a side tab.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560320"/>
            <a:ext cx="4572000" cy="91440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2706624"/>
            <a:ext cx="4242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35E4C4"/>
                </a:solidFill>
                <a:latin typeface="Trebuchet MS"/>
              </a:defRPr>
            </a:pPr>
            <a:r>
              <a:t>New category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3035808"/>
            <a:ext cx="424281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A cloud Solana desktop, not just a wallet or dashboard.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675887"/>
            <a:ext cx="4572000" cy="91440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3822191"/>
            <a:ext cx="4242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69CFFF"/>
                </a:solidFill>
                <a:latin typeface="Trebuchet MS"/>
              </a:defRPr>
            </a:pPr>
            <a:r>
              <a:t>New homepage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4151375"/>
            <a:ext cx="424281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Users start and end their Solana session in one place.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791456"/>
            <a:ext cx="4572000" cy="91440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4937760"/>
            <a:ext cx="4242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FFC857"/>
                </a:solidFill>
                <a:latin typeface="Trebuchet MS"/>
              </a:defRPr>
            </a:pPr>
            <a:r>
              <a:t>New expectation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5266944"/>
            <a:ext cx="424281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The agent can reason across apps because the apps share a workspace.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5"/>
          </a:solidFill>
          <a:ln>
            <a:solidFill>
              <a:srgbClr val="EA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-411480"/>
            <a:ext cx="1737360" cy="1737360"/>
          </a:xfrm>
          <a:prstGeom prst="ellipse">
            <a:avLst/>
          </a:prstGeom>
          <a:solidFill>
            <a:srgbClr val="DDECEE"/>
          </a:solidFill>
          <a:ln>
            <a:solidFill>
              <a:srgbClr val="DD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11480" y="5623560"/>
            <a:ext cx="1234440" cy="1234440"/>
          </a:xfrm>
          <a:prstGeom prst="ellipse">
            <a:avLst/>
          </a:prstGeom>
          <a:solidFill>
            <a:srgbClr val="DCEAEC"/>
          </a:solidFill>
          <a:ln>
            <a:solidFill>
              <a:srgbClr val="D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62179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14233B"/>
                </a:solidFill>
                <a:latin typeface="Trebuchet MS"/>
              </a:defRPr>
            </a:pPr>
            <a:r>
              <a:t>Agent1c.ai is the cloud-accessible Solana DeFi + DePIN 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E637C"/>
                </a:solidFill>
                <a:latin typeface="Trebuchet MS"/>
              </a:defRPr>
            </a:pPr>
            <a:r>
              <a:t>A browser-native desktop where the app launcher becomes the Solana dapp launcher.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Wallet-native 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The user enters through an onchain identity layer instead of a generic web account.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Dapp landing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Today's launcher evolves into the entry point for ecosystem apps and workflows.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5552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Agentic operating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Hitomi helps the user navigate, remember, and eventually orchestrate work across the desktop.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83480"/>
            <a:ext cx="10287000" cy="658368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9784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Mental model: Agent1c becomes the place you open when you want to do anything serious on Solana.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00" y="-731520"/>
            <a:ext cx="2651760" cy="2651760"/>
          </a:xfrm>
          <a:prstGeom prst="ellipse">
            <a:avLst/>
          </a:prstGeom>
          <a:solidFill>
            <a:srgbClr val="12233D"/>
          </a:solidFill>
          <a:ln>
            <a:solidFill>
              <a:srgbClr val="12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2920" y="5577840"/>
            <a:ext cx="1508760" cy="1508760"/>
          </a:xfrm>
          <a:prstGeom prst="ellipse">
            <a:avLst/>
          </a:prstGeom>
          <a:solidFill>
            <a:srgbClr val="16243C"/>
          </a:solidFill>
          <a:ln>
            <a:solidFill>
              <a:srgbClr val="162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66928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1872" y="530352"/>
            <a:ext cx="384048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0784" y="530352"/>
            <a:ext cx="292608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743200" cy="347472"/>
          </a:xfrm>
          <a:prstGeom prst="roundRect">
            <a:avLst>
              <a:gd name="adj" fmla="val 18000"/>
            </a:avLst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713232"/>
            <a:ext cx="25237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OPENCLAW POSITIONING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14400"/>
            <a:ext cx="80467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F7F4EE"/>
                </a:solidFill>
                <a:latin typeface="Trebuchet MS"/>
              </a:defRPr>
            </a:pPr>
            <a:r>
              <a:t>Agent1c can be used like a customizable, onchain OpenClaw for Solana.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5D3E3"/>
                </a:solidFill>
                <a:latin typeface="Trebuchet MS"/>
              </a:defRPr>
            </a:pPr>
            <a:r>
              <a:t>The difference is that the operator lives inside a wallet-native cloud desktop built for the ecosystem.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3246120" cy="173736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35E4C4"/>
                </a:solidFill>
                <a:latin typeface="Trebuchet MS"/>
              </a:defRPr>
            </a:pPr>
            <a:r>
              <a:t>Operator feel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18688"/>
            <a:ext cx="2916936" cy="1115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The agent has tools, memory, workspace context, and a persistent environment to work from.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2743200"/>
            <a:ext cx="3246120" cy="173736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69CFFF"/>
                </a:solidFill>
                <a:latin typeface="Trebuchet MS"/>
              </a:defRPr>
            </a:pPr>
            <a:r>
              <a:t>Customizable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3218688"/>
            <a:ext cx="2916936" cy="1115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Users can shape the desktop, the launcher, the tools, and the workflows to match how they operate.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2743200"/>
            <a:ext cx="3246120" cy="173736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FFC857"/>
                </a:solidFill>
                <a:latin typeface="Trebuchet MS"/>
              </a:defRPr>
            </a:pPr>
            <a:r>
              <a:t>Onchain-native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218688"/>
            <a:ext cx="2916936" cy="1115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The operator is built for wallets, dapps, and Solana workflows instead of generic web tasks.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solidFill>
              <a:srgbClr val="F7F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-411480"/>
            <a:ext cx="1737360" cy="1737360"/>
          </a:xfrm>
          <a:prstGeom prst="ellipse">
            <a:avLst/>
          </a:prstGeom>
          <a:solidFill>
            <a:srgbClr val="F0E5D9"/>
          </a:solidFill>
          <a:ln>
            <a:solidFill>
              <a:srgbClr val="F0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11480" y="5623560"/>
            <a:ext cx="1234440" cy="1234440"/>
          </a:xfrm>
          <a:prstGeom prst="ellipse">
            <a:avLst/>
          </a:prstGeom>
          <a:solidFill>
            <a:srgbClr val="F0E0D1"/>
          </a:solidFill>
          <a:ln>
            <a:solidFill>
              <a:srgbClr val="F0E0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62179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F7F4EE"/>
                </a:solidFill>
                <a:latin typeface="Trebuchet MS"/>
              </a:defRPr>
            </a:pPr>
            <a:r>
              <a:t>USE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14233B"/>
                </a:solidFill>
                <a:latin typeface="Trebuchet MS"/>
              </a:defRPr>
            </a:pPr>
            <a:r>
              <a:t>Why this matters for both DeFi and DePIN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E637C"/>
                </a:solidFill>
                <a:latin typeface="Trebuchet MS"/>
              </a:defRPr>
            </a:pPr>
            <a:r>
              <a:t>The OS framing gets stronger as user workflows become more continuous and more operational.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4983480" cy="23774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843784"/>
            <a:ext cx="4654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DeFi 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172968"/>
            <a:ext cx="4654296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Portfolio context, research, execution paths, watchlists, notes, and protocol hopping all belong in one workspace instead of ten tabs.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697480"/>
            <a:ext cx="4983480" cy="23774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2843784"/>
            <a:ext cx="4654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DePIN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3172968"/>
            <a:ext cx="4654296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Device fleets, rewards, uptime, maps, alerts, and operator workflows need a home surface that feels more like operations software than a dashboard.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00" y="-731520"/>
            <a:ext cx="2651760" cy="2651760"/>
          </a:xfrm>
          <a:prstGeom prst="ellipse">
            <a:avLst/>
          </a:prstGeom>
          <a:solidFill>
            <a:srgbClr val="12233D"/>
          </a:solidFill>
          <a:ln>
            <a:solidFill>
              <a:srgbClr val="12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2920" y="5577840"/>
            <a:ext cx="1508760" cy="1508760"/>
          </a:xfrm>
          <a:prstGeom prst="ellipse">
            <a:avLst/>
          </a:prstGeom>
          <a:solidFill>
            <a:srgbClr val="16243C"/>
          </a:solidFill>
          <a:ln>
            <a:solidFill>
              <a:srgbClr val="162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66928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1872" y="530352"/>
            <a:ext cx="384048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0784" y="530352"/>
            <a:ext cx="292608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71323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BUSINESS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F7F4EE"/>
                </a:solidFill>
                <a:latin typeface="Trebuchet MS"/>
              </a:defRPr>
            </a:pPr>
            <a:r>
              <a:t>Two paths to AI credits and premium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5D3E3"/>
                </a:solidFill>
                <a:latin typeface="Trebuchet MS"/>
              </a:defRPr>
            </a:pPr>
            <a:r>
              <a:t>One model for mainstream users. One model that is native to the community and the token.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43200"/>
            <a:ext cx="4572000" cy="20116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889504"/>
            <a:ext cx="4242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35E4C4"/>
                </a:solidFill>
                <a:latin typeface="Trebuchet MS"/>
              </a:defRPr>
            </a:pPr>
            <a:r>
              <a:t>1. Subscription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218688"/>
            <a:ext cx="4242816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Card-based plans for normies who just want the product to work.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Monthly recurring access buys larger AI credit buckets, convenience, and premium workspace features.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743200"/>
            <a:ext cx="4572000" cy="20116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2889504"/>
            <a:ext cx="4242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FFC857"/>
                </a:solidFill>
                <a:latin typeface="Trebuchet MS"/>
              </a:defRPr>
            </a:pPr>
            <a:r>
              <a:t>2. Token lock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218688"/>
            <a:ext cx="4242816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Buy `agent1c` community tokens and lock them for fixed periods to unlock more AI credits and higher access tiers.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That rewards aligned users while giving the token a clear utility loop.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195560" cy="640080"/>
          </a:xfrm>
          <a:prstGeom prst="roundRect">
            <a:avLst>
              <a:gd name="adj" fmla="val 18000"/>
            </a:avLst>
          </a:prstGeom>
          <a:solidFill>
            <a:srgbClr val="12233D"/>
          </a:solidFill>
          <a:ln>
            <a:solidFill>
              <a:srgbClr val="12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422392"/>
            <a:ext cx="9646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Hybrid model: easy card onboarding for mass users, token-aligned upside for the community.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5"/>
          </a:solidFill>
          <a:ln>
            <a:solidFill>
              <a:srgbClr val="EA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-411480"/>
            <a:ext cx="1737360" cy="1737360"/>
          </a:xfrm>
          <a:prstGeom prst="ellipse">
            <a:avLst/>
          </a:prstGeom>
          <a:solidFill>
            <a:srgbClr val="DDECEE"/>
          </a:solidFill>
          <a:ln>
            <a:solidFill>
              <a:srgbClr val="DD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11480" y="5623560"/>
            <a:ext cx="1234440" cy="1234440"/>
          </a:xfrm>
          <a:prstGeom prst="ellipse">
            <a:avLst/>
          </a:prstGeom>
          <a:solidFill>
            <a:srgbClr val="DCEAEC"/>
          </a:solidFill>
          <a:ln>
            <a:solidFill>
              <a:srgbClr val="D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69748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621792"/>
            <a:ext cx="24780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WHY SOLANA, WHY 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14233B"/>
                </a:solidFill>
                <a:latin typeface="Trebuchet MS"/>
              </a:defRPr>
            </a:pPr>
            <a:r>
              <a:t>This thesis works because Solana users already behave like OS users.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E637C"/>
                </a:solidFill>
                <a:latin typeface="Trebuchet MS"/>
              </a:defRPr>
            </a:pPr>
            <a:r>
              <a:t>They move across many apps, many workflows, and many moments of the 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Solana 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Fast, composable ecosystems create more demand for a persistent workspace than a single-page app ever can.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Cloud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An onchain OS has to be accessible anywhere, from any browser, not trapped on one machine.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5552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Category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The more fragmented the ecosystem gets, the more valuable a coherent home surface becomes.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00" y="-731520"/>
            <a:ext cx="2651760" cy="2651760"/>
          </a:xfrm>
          <a:prstGeom prst="ellipse">
            <a:avLst/>
          </a:prstGeom>
          <a:solidFill>
            <a:srgbClr val="12233D"/>
          </a:solidFill>
          <a:ln>
            <a:solidFill>
              <a:srgbClr val="12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2920" y="5577840"/>
            <a:ext cx="1508760" cy="1508760"/>
          </a:xfrm>
          <a:prstGeom prst="ellipse">
            <a:avLst/>
          </a:prstGeom>
          <a:solidFill>
            <a:srgbClr val="16243C"/>
          </a:solidFill>
          <a:ln>
            <a:solidFill>
              <a:srgbClr val="162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66928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1872" y="530352"/>
            <a:ext cx="384048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0784" y="530352"/>
            <a:ext cx="292608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71323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BUILD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F7F4EE"/>
                </a:solidFill>
                <a:latin typeface="Trebuchet MS"/>
              </a:defRPr>
            </a:pPr>
            <a:r>
              <a:t>The wedge today points toward the full OS tomorrow.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5D3E3"/>
                </a:solidFill>
                <a:latin typeface="Trebuchet MS"/>
              </a:defRPr>
            </a:pPr>
            <a:r>
              <a:t>This is a staged build, not a single giant leap.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2514600" cy="160020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889504"/>
            <a:ext cx="2185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35E4C4"/>
                </a:solidFill>
                <a:latin typeface="Trebuchet MS"/>
              </a:defRPr>
            </a:pPr>
            <a: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18688"/>
            <a:ext cx="2185416" cy="9784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Cloud desktop shell, app launcher, browser, Solana login, and read-only wallet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743200"/>
            <a:ext cx="2514600" cy="160020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2152" y="2889504"/>
            <a:ext cx="2185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69CFFF"/>
                </a:solidFill>
                <a:latin typeface="Trebuchet MS"/>
              </a:defRPr>
            </a:pPr>
            <a:r>
              <a:t>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3218688"/>
            <a:ext cx="2185416" cy="9784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Turn launcher surfaces into clearer Solana dapp entry points and richer wallet-aware context.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2743200"/>
            <a:ext cx="2514600" cy="160020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1" y="2889504"/>
            <a:ext cx="2185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FF7A59"/>
                </a:solidFill>
                <a:latin typeface="Trebuchet MS"/>
              </a:defRPr>
            </a:pPr>
            <a:r>
              <a:t>Then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1" y="3218688"/>
            <a:ext cx="2185416" cy="9784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Use Hitomi to coordinate deeper DeFi and DePIN workflows across the workspace.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43200"/>
            <a:ext cx="2514600" cy="160020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7112" y="2889504"/>
            <a:ext cx="2185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FFC857"/>
                </a:solidFill>
                <a:latin typeface="Trebuchet MS"/>
              </a:defRPr>
            </a:pPr>
            <a:r>
              <a:t>Later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7112" y="3218688"/>
            <a:ext cx="2185416" cy="9784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Become the default home surface for serious Solana users and teams.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8"/>
          </a:solidFill>
          <a:ln>
            <a:solidFill>
              <a:srgbClr val="F7F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-411480"/>
            <a:ext cx="1737360" cy="1737360"/>
          </a:xfrm>
          <a:prstGeom prst="ellipse">
            <a:avLst/>
          </a:prstGeom>
          <a:solidFill>
            <a:srgbClr val="F0E5D9"/>
          </a:solidFill>
          <a:ln>
            <a:solidFill>
              <a:srgbClr val="F0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11480" y="5623560"/>
            <a:ext cx="1234440" cy="1234440"/>
          </a:xfrm>
          <a:prstGeom prst="ellipse">
            <a:avLst/>
          </a:prstGeom>
          <a:solidFill>
            <a:srgbClr val="F0E0D1"/>
          </a:solidFill>
          <a:ln>
            <a:solidFill>
              <a:srgbClr val="F0E0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62179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F7F4EE"/>
                </a:solidFill>
                <a:latin typeface="Trebuchet MS"/>
              </a:defRPr>
            </a:pPr>
            <a: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73152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14233B"/>
                </a:solidFill>
                <a:latin typeface="Trebuchet MS"/>
              </a:defRPr>
            </a:pPr>
            <a:r>
              <a:t>The future of onchain UX is not more tabs.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E637C"/>
                </a:solidFill>
                <a:latin typeface="Trebuchet MS"/>
              </a:defRPr>
            </a:pPr>
            <a:r>
              <a:t>It is a wallet-native, cloud-accessible, agentic operating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  <a:defRPr sz="1800">
                <a:solidFill>
                  <a:srgbClr val="14233B"/>
                </a:solidFill>
                <a:latin typeface="Trebuchet MS"/>
              </a:defRPr>
            </a:pPr>
            <a:r>
              <a:t>• Agent1c.ai is that thesis for Solana.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defRPr sz="1800">
                <a:solidFill>
                  <a:srgbClr val="14233B"/>
                </a:solidFill>
                <a:latin typeface="Trebuchet MS"/>
              </a:defRPr>
            </a:pPr>
            <a:r>
              <a:t>• DeFi and DePIN are where the need is sharpest.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defRPr sz="1800">
                <a:solidFill>
                  <a:srgbClr val="14233B"/>
                </a:solidFill>
                <a:latin typeface="Trebuchet MS"/>
              </a:defRPr>
            </a:pPr>
            <a:r>
              <a:t>• The agentic layer is what makes the OS worth opening every 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331720"/>
            <a:ext cx="4297680" cy="24688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DB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2743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400" b="1">
                <a:solidFill>
                  <a:srgbClr val="14233B"/>
                </a:solidFill>
                <a:latin typeface="Trebuchet MS"/>
              </a:defRPr>
            </a:pPr>
            <a:r>
              <a:t>Agent1c.ai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3154680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E637C"/>
                </a:solidFill>
                <a:latin typeface="Trebuchet MS"/>
              </a:defRPr>
            </a:pPr>
            <a:r>
              <a:t>The Solana DeFi + DePIN 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14032" y="3675887"/>
            <a:ext cx="173736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3785615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50" b="0">
                <a:solidFill>
                  <a:srgbClr val="14233B"/>
                </a:solidFill>
                <a:latin typeface="Trebuchet MS"/>
              </a:defRPr>
            </a:pPr>
            <a:r>
              <a:t>Cloud-accessible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4272" y="3675887"/>
            <a:ext cx="173736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3785615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50" b="0">
                <a:solidFill>
                  <a:srgbClr val="14233B"/>
                </a:solidFill>
                <a:latin typeface="Trebuchet MS"/>
              </a:defRPr>
            </a:pPr>
            <a:r>
              <a:t>Wallet-native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4187952"/>
            <a:ext cx="173736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4297680"/>
            <a:ext cx="1554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50" b="0">
                <a:solidFill>
                  <a:srgbClr val="14233B"/>
                </a:solidFill>
                <a:latin typeface="Trebuchet MS"/>
              </a:defRPr>
            </a:pPr>
            <a:r>
              <a:t>Agentic by design</a:t>
            </a:r>
          </a:p>
        </p:txBody>
      </p:sp>
      <p:pic>
        <p:nvPicPr>
          <p:cNvPr id="20" name="Picture 19" descr="hedgey-clip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983480"/>
            <a:ext cx="868680" cy="8703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00" y="-731520"/>
            <a:ext cx="2651760" cy="2651760"/>
          </a:xfrm>
          <a:prstGeom prst="ellipse">
            <a:avLst/>
          </a:prstGeom>
          <a:solidFill>
            <a:srgbClr val="12233D"/>
          </a:solidFill>
          <a:ln>
            <a:solidFill>
              <a:srgbClr val="12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2920" y="5577840"/>
            <a:ext cx="1508760" cy="1508760"/>
          </a:xfrm>
          <a:prstGeom prst="ellipse">
            <a:avLst/>
          </a:prstGeom>
          <a:solidFill>
            <a:srgbClr val="16243C"/>
          </a:solidFill>
          <a:ln>
            <a:solidFill>
              <a:srgbClr val="162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66928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1872" y="530352"/>
            <a:ext cx="384048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0784" y="530352"/>
            <a:ext cx="292608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71323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F7F4EE"/>
                </a:solidFill>
                <a:latin typeface="Trebuchet MS"/>
              </a:defRPr>
            </a:pPr>
            <a:r>
              <a:t>What already exists in the repo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5D3E3"/>
                </a:solidFill>
                <a:latin typeface="Trebuchet MS"/>
              </a:defRPr>
            </a:pPr>
            <a:r>
              <a:t>The vision is future-state, but the starting product surface is real.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2514600" cy="17830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889504"/>
            <a:ext cx="2185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35E4C4"/>
                </a:solidFill>
                <a:latin typeface="Trebuchet MS"/>
              </a:defRPr>
            </a:pPr>
            <a:r>
              <a:t>Desktop shell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18688"/>
            <a:ext cx="218541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Static web desktop, windows, browser, notes, launcher, and cloud runtime.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743200"/>
            <a:ext cx="2514600" cy="17830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2152" y="2889504"/>
            <a:ext cx="2185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69CFFF"/>
                </a:solidFill>
                <a:latin typeface="Trebuchet MS"/>
              </a:defRPr>
            </a:pPr>
            <a:r>
              <a:t>Cloud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3218688"/>
            <a:ext cx="218541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Hosted `.ai` flow with cloud auth and managed AI runtime.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2743200"/>
            <a:ext cx="2514600" cy="17830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1" y="2889504"/>
            <a:ext cx="2185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FF7A59"/>
                </a:solidFill>
                <a:latin typeface="Trebuchet MS"/>
              </a:defRPr>
            </a:pPr>
            <a:r>
              <a:t>App launcher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1" y="3218688"/>
            <a:ext cx="218541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`apps.json` already defines a launcher surface that can become the dapp home screen.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43200"/>
            <a:ext cx="2514600" cy="17830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7112" y="2889504"/>
            <a:ext cx="21854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FFC857"/>
                </a:solidFill>
                <a:latin typeface="Trebuchet MS"/>
              </a:defRPr>
            </a:pPr>
            <a:r>
              <a:t>Solana wedge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7112" y="3218688"/>
            <a:ext cx="218541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Solana sign-in plus read-only wallet context are already implemented.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Appendix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5"/>
          </a:solidFill>
          <a:ln>
            <a:solidFill>
              <a:srgbClr val="EA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-411480"/>
            <a:ext cx="1737360" cy="1737360"/>
          </a:xfrm>
          <a:prstGeom prst="ellipse">
            <a:avLst/>
          </a:prstGeom>
          <a:solidFill>
            <a:srgbClr val="DDECEE"/>
          </a:solidFill>
          <a:ln>
            <a:solidFill>
              <a:srgbClr val="DD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11480" y="5623560"/>
            <a:ext cx="1234440" cy="1234440"/>
          </a:xfrm>
          <a:prstGeom prst="ellipse">
            <a:avLst/>
          </a:prstGeom>
          <a:solidFill>
            <a:srgbClr val="DCEAEC"/>
          </a:solidFill>
          <a:ln>
            <a:solidFill>
              <a:srgbClr val="D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62179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14233B"/>
                </a:solidFill>
                <a:latin typeface="Trebuchet MS"/>
              </a:defRPr>
            </a:pPr>
            <a:r>
              <a:t>Current Solana proof points in the codebase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E637C"/>
                </a:solidFill>
                <a:latin typeface="Trebuchet MS"/>
              </a:defRPr>
            </a:pPr>
            <a:r>
              <a:t>These are the repo-backed elements that support the pitch right 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`js/agent1cauth.js`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Solana wallet detection and Supabase `signInWithWeb3` auth 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`js/solana-wallet.js`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Read-only RPC balance reads, recent signatures, and parsed transaction summaries.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743200"/>
            <a:ext cx="3246120" cy="1783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5552" y="2889504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14233B"/>
                </a:solidFill>
                <a:latin typeface="Trebuchet MS"/>
              </a:defRPr>
            </a:pPr>
            <a:r>
              <a:t>`js/agent1c.js` +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3218688"/>
            <a:ext cx="2916936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4E637C"/>
                </a:solidFill>
                <a:latin typeface="Trebuchet MS"/>
              </a:defRPr>
            </a:pPr>
            <a:r>
              <a:t>Runtime wallet state plus `solana_wallet_overview` and `solana_wallet_refresh` for Hitomi.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Agent1c.ai  |  Solana Hackathon  |  Appendix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E637C"/>
                </a:solidFill>
                <a:latin typeface="Trebuchet M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00" y="-731520"/>
            <a:ext cx="2651760" cy="2651760"/>
          </a:xfrm>
          <a:prstGeom prst="ellipse">
            <a:avLst/>
          </a:prstGeom>
          <a:solidFill>
            <a:srgbClr val="12233D"/>
          </a:solidFill>
          <a:ln>
            <a:solidFill>
              <a:srgbClr val="12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502920" y="5577840"/>
            <a:ext cx="1508760" cy="1508760"/>
          </a:xfrm>
          <a:prstGeom prst="ellipse">
            <a:avLst/>
          </a:prstGeom>
          <a:solidFill>
            <a:srgbClr val="16243C"/>
          </a:solidFill>
          <a:ln>
            <a:solidFill>
              <a:srgbClr val="162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66928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61872" y="530352"/>
            <a:ext cx="384048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0784" y="530352"/>
            <a:ext cx="292608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103120" cy="347472"/>
          </a:xfrm>
          <a:prstGeom prst="roundRect">
            <a:avLst>
              <a:gd name="adj" fmla="val 18000"/>
            </a:avLst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713232"/>
            <a:ext cx="1883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A1222"/>
                </a:solidFill>
                <a:latin typeface="Trebuchet MS"/>
              </a:defRPr>
            </a:pPr>
            <a: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14400"/>
            <a:ext cx="69494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F7F4EE"/>
                </a:solidFill>
                <a:latin typeface="Trebuchet MS"/>
              </a:defRPr>
            </a:pPr>
            <a:r>
              <a:t>Reserved blocks for the final hackathon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6492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5D3E3"/>
                </a:solidFill>
                <a:latin typeface="Trebuchet MS"/>
              </a:defRPr>
            </a:pPr>
            <a:r>
              <a:t>These are the sections to fill with outside research and live proof before submission.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4663440" cy="13258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889504"/>
            <a:ext cx="4334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69CFFF"/>
                </a:solidFill>
                <a:latin typeface="Trebuchet MS"/>
              </a:defRPr>
            </a:pPr>
            <a:r>
              <a:t>Market sizing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18688"/>
            <a:ext cx="433425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TAM / SAM / SOM or the specific Solana ecosystem framing we want judges to see.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2743200"/>
            <a:ext cx="4663440" cy="13258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2889504"/>
            <a:ext cx="4334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69CFFF"/>
                </a:solidFill>
                <a:latin typeface="Trebuchet MS"/>
              </a:defRPr>
            </a:pPr>
            <a:r>
              <a:t>Competition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3872" y="3218688"/>
            <a:ext cx="433425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Wallets, dashboards, browser assistants, agent products, and adjacent OS-style tools.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26280"/>
            <a:ext cx="4663440" cy="13258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672584"/>
            <a:ext cx="4334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69CFFF"/>
                </a:solidFill>
                <a:latin typeface="Trebuchet MS"/>
              </a:defRPr>
            </a:pPr>
            <a:r>
              <a:t>Traction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01768"/>
            <a:ext cx="433425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Usage, demo proof, partner interest, or ecosystem-native signals we want to highlight.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4526280"/>
            <a:ext cx="4663440" cy="1325880"/>
          </a:xfrm>
          <a:prstGeom prst="roundRect">
            <a:avLst>
              <a:gd name="adj" fmla="val 18000"/>
            </a:avLst>
          </a:prstGeom>
          <a:solidFill>
            <a:srgbClr val="17263F"/>
          </a:solidFill>
          <a:ln>
            <a:solidFill>
              <a:srgbClr val="172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3872" y="4672584"/>
            <a:ext cx="4334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1">
                <a:solidFill>
                  <a:srgbClr val="69CFFF"/>
                </a:solidFill>
                <a:latin typeface="Trebuchet MS"/>
              </a:defRPr>
            </a:pPr>
            <a:r>
              <a:t>Go-to-market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3872" y="5001768"/>
            <a:ext cx="433425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defRPr sz="1150" b="0">
                <a:solidFill>
                  <a:srgbClr val="C8D3E2"/>
                </a:solidFill>
                <a:latin typeface="Trebuchet MS"/>
              </a:defRPr>
            </a:pPr>
            <a:r>
              <a:t>Which user wedge we emphasize first: DeFi power users, DePIN operators, teams, or creators.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Appendix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5952" y="640080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