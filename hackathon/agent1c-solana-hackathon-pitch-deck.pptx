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713232"/>
            <a:ext cx="2331720" cy="347472"/>
          </a:xfrm>
          <a:prstGeom prst="roundRect">
            <a:avLst>
              <a:gd name="adj" fmla="val 18000"/>
            </a:avLst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68096"/>
            <a:ext cx="20939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SOLANA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200" b="1">
                <a:solidFill>
                  <a:srgbClr val="F7F4EE"/>
                </a:solidFill>
                <a:latin typeface="Trebuchet MS"/>
              </a:defRPr>
            </a:pPr>
            <a:r>
              <a:t>Agent1c.ai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200" b="1">
                <a:solidFill>
                  <a:srgbClr val="35E4C4"/>
                </a:solidFill>
                <a:latin typeface="Trebuchet MS"/>
              </a:defRPr>
            </a:pPr>
            <a:r>
              <a:t>The browser-native agentic desktop for wallet-native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120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600" b="0">
                <a:solidFill>
                  <a:srgbClr val="C6D0DE"/>
                </a:solidFill>
                <a:latin typeface="Trebuchet MS"/>
              </a:defRPr>
            </a:pPr>
            <a:r>
              <a:t>Hitomi lives inside a real workspace, authenticates with Solana, and explains live wallet state in plain English instead of making users bounce between tabs, explorers, and dashboards.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709160"/>
            <a:ext cx="5257800" cy="109728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" y="5010912"/>
            <a:ext cx="1417320" cy="411480"/>
          </a:xfrm>
          <a:prstGeom prst="roundRect">
            <a:avLst>
              <a:gd name="adj" fmla="val 18000"/>
            </a:avLst>
          </a:prstGeom>
          <a:solidFill>
            <a:srgbClr val="121B31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2978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Wallet-native identity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51176" y="5010912"/>
            <a:ext cx="1417320" cy="411480"/>
          </a:xfrm>
          <a:prstGeom prst="roundRect">
            <a:avLst>
              <a:gd name="adj" fmla="val 18000"/>
            </a:avLst>
          </a:prstGeom>
          <a:solidFill>
            <a:srgbClr val="121B31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42616" y="512978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Persistent AI workspace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33672" y="5010912"/>
            <a:ext cx="1417320" cy="411480"/>
          </a:xfrm>
          <a:prstGeom prst="roundRect">
            <a:avLst>
              <a:gd name="adj" fmla="val 18000"/>
            </a:avLst>
          </a:prstGeom>
          <a:solidFill>
            <a:srgbClr val="121B31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5112" y="512978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Read-only on-chain context</a:t>
            </a:r>
          </a:p>
        </p:txBody>
      </p:sp>
      <p:sp>
        <p:nvSpPr>
          <p:cNvPr id="20" name="Oval 19"/>
          <p:cNvSpPr/>
          <p:nvPr/>
        </p:nvSpPr>
        <p:spPr>
          <a:xfrm>
            <a:off x="7818120" y="1143000"/>
            <a:ext cx="3063240" cy="3063240"/>
          </a:xfrm>
          <a:prstGeom prst="ellipse">
            <a:avLst/>
          </a:prstGeom>
          <a:solidFill>
            <a:srgbClr val="113A45"/>
          </a:solidFill>
          <a:ln>
            <a:solidFill>
              <a:srgbClr val="113A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8160" y="1463040"/>
            <a:ext cx="2423160" cy="2423160"/>
          </a:xfrm>
          <a:prstGeom prst="ellipse">
            <a:avLst/>
          </a:prstGeom>
          <a:solidFill>
            <a:srgbClr val="1B4A55"/>
          </a:solidFill>
          <a:ln>
            <a:solidFill>
              <a:srgbClr val="1B4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edgey-clip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79" y="1325880"/>
            <a:ext cx="2377440" cy="238209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60" y="49834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300" b="0">
                <a:solidFill>
                  <a:srgbClr val="C6D0DE"/>
                </a:solidFill>
                <a:latin typeface="Trebuchet MS"/>
              </a:defRPr>
            </a:pPr>
            <a:r>
              <a:t>Pitch deck grounded in the shipped repo state, with a technical appendix for deeper judge follow-up.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solidFill>
              <a:srgbClr val="F7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-594360"/>
            <a:ext cx="2194560" cy="2194560"/>
          </a:xfrm>
          <a:prstGeom prst="ellipse">
            <a:avLst/>
          </a:prstGeom>
          <a:solidFill>
            <a:srgbClr val="EFE6DB"/>
          </a:solidFill>
          <a:ln>
            <a:solidFill>
              <a:srgbClr val="EFE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02920" y="5650992"/>
            <a:ext cx="1645920" cy="1645920"/>
          </a:xfrm>
          <a:prstGeom prst="ellipse">
            <a:avLst/>
          </a:prstGeom>
          <a:solidFill>
            <a:srgbClr val="F0E0D1"/>
          </a:solidFill>
          <a:ln>
            <a:solidFill>
              <a:srgbClr val="F0E0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2179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F7F4EE"/>
                </a:solidFill>
                <a:latin typeface="Trebuchet MS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14233B"/>
                </a:solidFill>
                <a:latin typeface="Trebuchet MS"/>
              </a:defRPr>
            </a:pPr>
            <a:r>
              <a:t>AI still lives beside the workflow.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14233B"/>
                </a:solidFill>
                <a:latin typeface="Trebuchet MS"/>
              </a:defRPr>
            </a:pPr>
            <a:r>
              <a:t>Web3 still lives across too many surfaces.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4937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4233B"/>
                </a:solidFill>
                <a:latin typeface="Trebuchet MS"/>
              </a:defRPr>
            </a:pPr>
            <a:r>
              <a:t>• Chatbots open in a separate tab and rarely understand the user's real environment.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4233B"/>
                </a:solidFill>
                <a:latin typeface="Trebuchet MS"/>
              </a:defRPr>
            </a:pPr>
            <a:r>
              <a:t>• Wallet context is trapped in browser extensions, explorers, dashboards, and DMs.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4233B"/>
                </a:solidFill>
                <a:latin typeface="Trebuchet MS"/>
              </a:defRPr>
            </a:pPr>
            <a:r>
              <a:t>• Even simple questions like "what hit my wallet?" require manual context switching and interpretation.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143000"/>
            <a:ext cx="4754880" cy="45262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E4D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20840" y="1508760"/>
            <a:ext cx="4114800" cy="804672"/>
          </a:xfrm>
          <a:prstGeom prst="roundRect">
            <a:avLst>
              <a:gd name="adj" fmla="val 18000"/>
            </a:avLst>
          </a:prstGeom>
          <a:solidFill>
            <a:srgbClr val="EEF4F7"/>
          </a:solidFill>
          <a:ln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1" y="1655063"/>
            <a:ext cx="378561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1" y="2039112"/>
            <a:ext cx="37856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Chat tab, wallet extension, block explorer, notes, and Telegram all hold different slices of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2514600"/>
            <a:ext cx="4114800" cy="804672"/>
          </a:xfrm>
          <a:prstGeom prst="roundRect">
            <a:avLst>
              <a:gd name="adj" fmla="val 18000"/>
            </a:avLst>
          </a:prstGeom>
          <a:solidFill>
            <a:srgbClr val="EEF4F7"/>
          </a:solidFill>
          <a:ln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1" y="2660904"/>
            <a:ext cx="378561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What breaks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85431" y="3044952"/>
            <a:ext cx="37856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Context does not accumulate, identity does not travel cleanly, and users become the manual orchestrator.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3520440"/>
            <a:ext cx="4114800" cy="804672"/>
          </a:xfrm>
          <a:prstGeom prst="roundRect">
            <a:avLst>
              <a:gd name="adj" fmla="val 18000"/>
            </a:avLst>
          </a:prstGeom>
          <a:solidFill>
            <a:srgbClr val="EEF4F7"/>
          </a:solidFill>
          <a:ln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1" y="3666744"/>
            <a:ext cx="378561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What users want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1" y="4050791"/>
            <a:ext cx="37856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One place where the assistant, files, browser, and wallet context already know each other.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577840"/>
            <a:ext cx="10469880" cy="566928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733288"/>
            <a:ext cx="9966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500" b="1">
                <a:solidFill>
                  <a:srgbClr val="F7F4EE"/>
                </a:solidFill>
                <a:latin typeface="Trebuchet MS"/>
              </a:defRPr>
            </a:pPr>
            <a:r>
              <a:t>The missing product is not another chat box or another dashboard. It is a persistent agent workspace.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83464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13232"/>
            <a:ext cx="2596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WHAT USERS ACTUALLY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A workspace-native agent, not a disposable conversation.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556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C7D3E2"/>
                </a:solidFill>
                <a:latin typeface="Trebuchet MS"/>
              </a:defRPr>
            </a:pPr>
            <a:r>
              <a:t>Agent1c is built around four product truths that normal copilots skip.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5349240" cy="135331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569464"/>
            <a:ext cx="50200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Persistent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5351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7D3E2"/>
                </a:solidFill>
                <a:latin typeface="Trebuchet MS"/>
              </a:defRPr>
            </a:pPr>
            <a:r>
              <a:t>The agent lives inside the desktop, so windows, docs, threads, and state stay in the same room.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423160"/>
            <a:ext cx="5349240" cy="135331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569464"/>
            <a:ext cx="50200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Wallet-native 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95351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7D3E2"/>
                </a:solidFill>
                <a:latin typeface="Trebuchet MS"/>
              </a:defRPr>
            </a:pPr>
            <a:r>
              <a:t>The wallet becomes authenticated workspace context instead of staying stuck in a wallet popup.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349240" cy="135331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306824"/>
            <a:ext cx="50200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Visible tool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69087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7D3E2"/>
                </a:solidFill>
                <a:latin typeface="Trebuchet MS"/>
              </a:defRPr>
            </a:pPr>
            <a:r>
              <a:t>The user can see and direct the workspace instead of trusting hidden background magic.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49240" cy="135331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4306824"/>
            <a:ext cx="50200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Safe first 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469087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7D3E2"/>
                </a:solidFill>
                <a:latin typeface="Trebuchet MS"/>
              </a:defRPr>
            </a:pPr>
            <a:r>
              <a:t>Read-only wallet understanding is the right wedge before any signing or execution surface.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5"/>
          </a:solidFill>
          <a:ln>
            <a:solidFill>
              <a:srgbClr val="EA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-594360"/>
            <a:ext cx="2194560" cy="2194560"/>
          </a:xfrm>
          <a:prstGeom prst="ellipse">
            <a:avLst/>
          </a:prstGeom>
          <a:solidFill>
            <a:srgbClr val="E4ECEE"/>
          </a:solidFill>
          <a:ln>
            <a:solidFill>
              <a:srgbClr val="E4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02920" y="5650992"/>
            <a:ext cx="1645920" cy="1645920"/>
          </a:xfrm>
          <a:prstGeom prst="ellipse">
            <a:avLst/>
          </a:prstGeom>
          <a:solidFill>
            <a:srgbClr val="DDEBED"/>
          </a:solidFill>
          <a:ln>
            <a:solidFill>
              <a:srgbClr val="DD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2179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4233B"/>
                </a:solidFill>
                <a:latin typeface="Trebuchet MS"/>
              </a:defRPr>
            </a:pPr>
            <a:r>
              <a:t>Agent1c.ai is a hosted agentic desktop 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F637D"/>
                </a:solidFill>
                <a:latin typeface="Trebuchet MS"/>
              </a:defRPr>
            </a:pPr>
            <a:r>
              <a:t>It runs as a static web desktop with Hitomi, draggable windows, browser/file surfaces, editable runtime docs, and cloud-authenticated AI orchestration.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47548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14233B"/>
                </a:solidFill>
                <a:latin typeface="Trebuchet MS"/>
              </a:defRPr>
            </a:pPr>
            <a:r>
              <a:t>• Frontend is a static GitHub Pages app with vanilla JS modules and no build pipeline for the core runtime.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14233B"/>
                </a:solidFill>
                <a:latin typeface="Trebuchet MS"/>
              </a:defRPr>
            </a:pPr>
            <a:r>
              <a:t>• Hitomi operates inside the workspace instead of being limited to one chat panel.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14233B"/>
                </a:solidFill>
                <a:latin typeface="Trebuchet MS"/>
              </a:defRPr>
            </a:pPr>
            <a:r>
              <a:t>• The same runtime can combine chat, files, browser actions, notes, and authenticated wallet context.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1325880"/>
            <a:ext cx="5166360" cy="44348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DD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44768" y="1645920"/>
            <a:ext cx="1234440" cy="914400"/>
          </a:xfrm>
          <a:prstGeom prst="roundRect">
            <a:avLst>
              <a:gd name="adj" fmla="val 18000"/>
            </a:avLst>
          </a:prstGeom>
          <a:solidFill>
            <a:srgbClr val="FFF7EA"/>
          </a:solidFill>
          <a:ln>
            <a:solidFill>
              <a:srgbClr val="FFF7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792224"/>
            <a:ext cx="9052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2176272"/>
            <a:ext cx="9052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asks in plain English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645920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EFF9F6"/>
          </a:solidFill>
          <a:ln>
            <a:solidFill>
              <a:srgbClr val="EFF9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9831" y="1792224"/>
            <a:ext cx="11338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Hitomi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2176272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agent runtime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645920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EEF5FF"/>
          </a:solidFill>
          <a:ln>
            <a:solidFill>
              <a:srgbClr val="EEF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91472" y="1792224"/>
            <a:ext cx="99669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2176272"/>
            <a:ext cx="9966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wallet, browser, files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6912" y="1920240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FF7A59"/>
                </a:solidFill>
                <a:latin typeface="Trebuchet MS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1920240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FF7A59"/>
                </a:solidFill>
                <a:latin typeface="Trebuchet M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3063240"/>
            <a:ext cx="4160520" cy="1097280"/>
          </a:xfrm>
          <a:prstGeom prst="roundRect">
            <a:avLst>
              <a:gd name="adj" fmla="val 18000"/>
            </a:avLst>
          </a:prstGeom>
          <a:solidFill>
            <a:srgbClr val="EEF4F7"/>
          </a:solidFill>
          <a:ln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6831" y="3209544"/>
            <a:ext cx="3831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Visible 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831" y="3593592"/>
            <a:ext cx="3831335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Windows, notes, browser routing, desktop surfaces, and app state stay user-visible instead of being hidden in a backend black box.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4434840"/>
            <a:ext cx="4160520" cy="914400"/>
          </a:xfrm>
          <a:prstGeom prst="roundRect">
            <a:avLst>
              <a:gd name="adj" fmla="val 18000"/>
            </a:avLst>
          </a:prstGeom>
          <a:solidFill>
            <a:srgbClr val="EEF4F7"/>
          </a:solidFill>
          <a:ln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1" y="4581144"/>
            <a:ext cx="3831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Cloud convenience, optional privacy upgrades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1" y="4965192"/>
            <a:ext cx="3831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Managed cloud is default on `.ai`; relay and Tor paths already exist as adjacent surfaces.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1323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WHY SOLANA 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005840"/>
            <a:ext cx="59436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Solana is not a bolt-on feature here.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It is the identity wedge.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23160"/>
            <a:ext cx="5349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D0DBE8"/>
                </a:solidFill>
                <a:latin typeface="Trebuchet MS"/>
              </a:defRPr>
            </a:pPr>
            <a:r>
              <a:t>• The auth UI already includes `Continue with Solana` and uses Supabase `signInWithWeb3({ chain: "solana" })`.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D0DBE8"/>
                </a:solidFill>
                <a:latin typeface="Trebuchet MS"/>
              </a:defRPr>
            </a:pPr>
            <a:r>
              <a:t>• The runtime extracts the canonical wallet address from auth identity metadata instead of scraping labels.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D0DBE8"/>
                </a:solidFill>
                <a:latin typeface="Trebuchet MS"/>
              </a:defRPr>
            </a:pPr>
            <a:r>
              <a:t>• Hitomi can refresh balance and recent transactions through explicit read-only tools and answer in plain English.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D0DBE8"/>
                </a:solidFill>
                <a:latin typeface="Trebuchet MS"/>
              </a:defRPr>
            </a:pPr>
            <a:r>
              <a:t>• Longer term, the wallet becomes a clean anchor for encrypted continuity across devices and sessions.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08760"/>
            <a:ext cx="4251960" cy="9601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1" y="1655063"/>
            <a:ext cx="39227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1. Sign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1" y="2039112"/>
            <a:ext cx="392277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Phantom / Backpack / Brave / compatible Solana wallet establishes authenticated session.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697480"/>
            <a:ext cx="4251960" cy="9601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1" y="2843784"/>
            <a:ext cx="39227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69CFFF"/>
                </a:solidFill>
                <a:latin typeface="Trebuchet MS"/>
              </a:defRPr>
            </a:pPr>
            <a:r>
              <a:t>2. Inspect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1" y="3227832"/>
            <a:ext cx="392277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Wallet state is cached in runtime and refreshed from Solana RPC with endpoint fallbacks.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3886200"/>
            <a:ext cx="4251960" cy="9601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1" y="4032504"/>
            <a:ext cx="39227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FC857"/>
                </a:solidFill>
                <a:latin typeface="Trebuchet MS"/>
              </a:defRPr>
            </a:pPr>
            <a:r>
              <a:t>3. Explain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831" y="4416552"/>
            <a:ext cx="392277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Hitomi answers questions like "what's my balance?" or "what hit my wallet recently?" safely and read-only.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solidFill>
              <a:srgbClr val="F7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-594360"/>
            <a:ext cx="2194560" cy="2194560"/>
          </a:xfrm>
          <a:prstGeom prst="ellipse">
            <a:avLst/>
          </a:prstGeom>
          <a:solidFill>
            <a:srgbClr val="EFE6DB"/>
          </a:solidFill>
          <a:ln>
            <a:solidFill>
              <a:srgbClr val="EFE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02920" y="5650992"/>
            <a:ext cx="1645920" cy="1645920"/>
          </a:xfrm>
          <a:prstGeom prst="ellipse">
            <a:avLst/>
          </a:prstGeom>
          <a:solidFill>
            <a:srgbClr val="F0E0D1"/>
          </a:solidFill>
          <a:ln>
            <a:solidFill>
              <a:srgbClr val="F0E0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2179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F7F4EE"/>
                </a:solidFill>
                <a:latin typeface="Trebuchet MS"/>
              </a:defRPr>
            </a:pPr>
            <a:r>
              <a:t>PRODUCT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4233B"/>
                </a:solidFill>
                <a:latin typeface="Trebuchet MS"/>
              </a:defRPr>
            </a:pPr>
            <a:r>
              <a:t>What a judge or user experiences in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F637D"/>
                </a:solidFill>
                <a:latin typeface="Trebuchet MS"/>
              </a:defRPr>
            </a:pPr>
            <a:r>
              <a:t>The story is simple enough for a pitch demo, but it sits on top of real runtime plumbing already in the repo.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2560320" cy="1417320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1" y="2404872"/>
            <a:ext cx="475488" cy="475488"/>
          </a:xfrm>
          <a:prstGeom prst="ellipse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44144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0B1020"/>
                </a:solidFill>
                <a:latin typeface="Trebuchet M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04872"/>
            <a:ext cx="16459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Connect wallet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53512"/>
            <a:ext cx="22311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Use Solana sign-in from the auth window and land in an authenticated cloud workspace.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2240280"/>
            <a:ext cx="2560320" cy="1417320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74720" y="2404872"/>
            <a:ext cx="475488" cy="475488"/>
          </a:xfrm>
          <a:prstGeom prst="ellipse">
            <a:avLst/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44144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0B1020"/>
                </a:solidFill>
                <a:latin typeface="Trebuchet M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59936" y="2404872"/>
            <a:ext cx="16459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Open the desktop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953512"/>
            <a:ext cx="22311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Hitomi, notes, docs, credits, browser, and other panels all exist in the same visible workspace.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0176" y="2240280"/>
            <a:ext cx="2560320" cy="1417320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44768" y="2404872"/>
            <a:ext cx="475488" cy="475488"/>
          </a:xfrm>
          <a:prstGeom prst="ellipse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244144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0B1020"/>
                </a:solidFill>
                <a:latin typeface="Trebuchet M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4" y="2404872"/>
            <a:ext cx="16459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Ask naturally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953512"/>
            <a:ext cx="22311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Questions like "what's my balance?" or "show recent transactions" stay in plain English.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50224" y="2240280"/>
            <a:ext cx="2560320" cy="1417320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814816" y="2404872"/>
            <a:ext cx="475488" cy="475488"/>
          </a:xfrm>
          <a:prstGeom prst="ellipse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2441448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0B1020"/>
                </a:solidFill>
                <a:latin typeface="Trebuchet M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404872"/>
            <a:ext cx="16459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Get live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4816" y="2953512"/>
            <a:ext cx="223113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Hitomi calls the wallet overview or refresh tool, then answers from current wallet state.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60520"/>
            <a:ext cx="10561320" cy="12344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E3D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407408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00" b="1">
                <a:solidFill>
                  <a:srgbClr val="14233B"/>
                </a:solidFill>
                <a:latin typeface="Trebuchet MS"/>
              </a:defRPr>
            </a:pPr>
            <a:r>
              <a:t>Important detail: the Solana scope is intentionally read-only today.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736592"/>
            <a:ext cx="9784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F637D"/>
                </a:solidFill>
                <a:latin typeface="Trebuchet MS"/>
              </a:defRPr>
            </a:pPr>
            <a:r>
              <a:t>That makes the demo safer, easier to trust, and easier to explain: Agent1c understands the wallet before it ever asks the user to approve anything.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1323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PROOF IT EXISTS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87552"/>
            <a:ext cx="6217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This is already in the repo and in `origin/master`.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1907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C7D3E2"/>
                </a:solidFill>
                <a:latin typeface="Trebuchet MS"/>
              </a:defRPr>
            </a:pPr>
            <a:r>
              <a:t>We are not asking the judges to fund a mockup. The core Solana path is already wired.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377440"/>
            <a:ext cx="4754880" cy="107899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523744"/>
            <a:ext cx="4425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`js/agent1cauth.js`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07792"/>
            <a:ext cx="4425696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Wallet detection plus Supabase `signInWithWeb3` for Solana login.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377440"/>
            <a:ext cx="4754880" cy="107899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1" y="2523744"/>
            <a:ext cx="4425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`js/solana-wallet.js`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1" y="2907792"/>
            <a:ext cx="4425696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Live RPC balance reads, recent signatures, and parsed transaction summaries.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94760"/>
            <a:ext cx="4754880" cy="107899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3941064"/>
            <a:ext cx="4425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`js/agent1c.js`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325112"/>
            <a:ext cx="4425696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Canonical wallet state bucket plus post-auth refresh orchestration.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794760"/>
            <a:ext cx="4754880" cy="107899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1" y="3941064"/>
            <a:ext cx="4425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`js/agent1c-tools-runtime.js`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1" y="4325112"/>
            <a:ext cx="4425696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`solana_wallet_overview` and `solana_wallet_refresh` for Hitomi.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5212080"/>
            <a:ext cx="5440680" cy="1078992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02152" y="5358384"/>
            <a:ext cx="5111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`js/agent1c-instance-profiles.js`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2152" y="5742432"/>
            <a:ext cx="5111496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Shipped runtime instructions that keep wallet behavior safe and read-only.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5"/>
          </a:solidFill>
          <a:ln>
            <a:solidFill>
              <a:srgbClr val="EA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-594360"/>
            <a:ext cx="2194560" cy="2194560"/>
          </a:xfrm>
          <a:prstGeom prst="ellipse">
            <a:avLst/>
          </a:prstGeom>
          <a:solidFill>
            <a:srgbClr val="E4ECEE"/>
          </a:solidFill>
          <a:ln>
            <a:solidFill>
              <a:srgbClr val="E4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02920" y="5650992"/>
            <a:ext cx="1645920" cy="1645920"/>
          </a:xfrm>
          <a:prstGeom prst="ellipse">
            <a:avLst/>
          </a:prstGeom>
          <a:solidFill>
            <a:srgbClr val="DDEBED"/>
          </a:solidFill>
          <a:ln>
            <a:solidFill>
              <a:srgbClr val="DD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2179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WHY IT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4233B"/>
                </a:solidFill>
                <a:latin typeface="Trebuchet MS"/>
              </a:defRPr>
            </a:pPr>
            <a:r>
              <a:t>Agent1c is not another chatbot and not another wallet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F637D"/>
                </a:solidFill>
                <a:latin typeface="Trebuchet MS"/>
              </a:defRPr>
            </a:pPr>
            <a:r>
              <a:t>The product edge comes from combining workspace-native AI, user-visible tools, and wallet-native context in one surface.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498348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432304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Workspace-native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816352"/>
            <a:ext cx="4654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The agent lives inside a desktop shell with windows, notes, files, browser, and panel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498348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432304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Wallet-aware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2816352"/>
            <a:ext cx="4654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Identity and wallet context can enter the workspace through authenticated Solana login.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40"/>
            <a:ext cx="498348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3666744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Tool-using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050791"/>
            <a:ext cx="4654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Hitomi does not have to guess. She can call explicit wallet tools and other runtime tools.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520440"/>
            <a:ext cx="498348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666744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Privacy-flexible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050791"/>
            <a:ext cx="4654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Cloud first on `.ai`, with relay and Tor surfaces already present for privacy upgrades.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54880"/>
            <a:ext cx="4983480" cy="98755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1" y="4901184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Safe by default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5285232"/>
            <a:ext cx="46542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Current chain scope is read-only, which keeps claims and trust boundaries crisp.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742432"/>
            <a:ext cx="10698480" cy="475488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870448"/>
            <a:ext cx="10241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7F4EE"/>
                </a:solidFill>
                <a:latin typeface="Trebuchet MS"/>
              </a:defRPr>
            </a:pPr>
            <a:r>
              <a:t>The wedge is simple: turn wallet identity into working context for an always-available AI teammate.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1323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87552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A simple product story on top of a modular runtime.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920240"/>
            <a:ext cx="2926080" cy="14173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066544"/>
            <a:ext cx="25968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Frontend shell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450592"/>
            <a:ext cx="2596896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Static GitHub Pages app, HedgeyOS desktop shell, no npm build step for the core web app.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1920240"/>
            <a:ext cx="3657600" cy="14173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5072" y="2066544"/>
            <a:ext cx="33284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69CFFF"/>
                </a:solidFill>
                <a:latin typeface="Trebuchet MS"/>
              </a:defRPr>
            </a:pPr>
            <a:r>
              <a:t>Agent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450592"/>
            <a:ext cx="3328416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`js/agent1c.js` plus tool/runtime modules manage Hitomi, threads, docs, events, and wallet state.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920240"/>
            <a:ext cx="3611880" cy="14173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2066544"/>
            <a:ext cx="32826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FC857"/>
                </a:solidFill>
                <a:latin typeface="Trebuchet MS"/>
              </a:defRPr>
            </a:pPr>
            <a:r>
              <a:t>Cloud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2450592"/>
            <a:ext cx="3282696" cy="740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Supabase Auth + Edge Function `xai-chat` provide authentication and managed model access.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47472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35E4C4"/>
                </a:solidFill>
                <a:latin typeface="Trebuchet MS"/>
              </a:defRPr>
            </a:pPr>
            <a: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47472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69CFFF"/>
                </a:solidFill>
                <a:latin typeface="Trebuchet MS"/>
              </a:defRPr>
            </a:pPr>
            <a: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347472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FFC857"/>
                </a:solidFill>
                <a:latin typeface="Trebuchet MS"/>
              </a:defRPr>
            </a:pPr>
            <a: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931920"/>
            <a:ext cx="3017520" cy="132588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1" y="4078224"/>
            <a:ext cx="26883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Solana RPC read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1" y="4462272"/>
            <a:ext cx="268833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`js/solana-wallet.js` calls `getBalance`, `getSignaturesForAddress`, and `getTransaction` with RPC fallbacks.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931920"/>
            <a:ext cx="3017520" cy="132588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5112" y="4078224"/>
            <a:ext cx="26883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69CFFF"/>
                </a:solidFill>
                <a:latin typeface="Trebuchet MS"/>
              </a:defRPr>
            </a:pPr>
            <a:r>
              <a:t>Prompt + tools contract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5112" y="4462272"/>
            <a:ext cx="268833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Shipped `SOUL`, `TOOLS`, and heartbeat templates tell Hitomi how to handle wallet state safely.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3931920"/>
            <a:ext cx="3017520" cy="132588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16952" y="4078224"/>
            <a:ext cx="26883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FC857"/>
                </a:solidFill>
                <a:latin typeface="Trebuchet MS"/>
              </a:defRPr>
            </a:pPr>
            <a:r>
              <a:t>Relay surfaces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6952" y="4462272"/>
            <a:ext cx="2688336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Shell relay, Tor relay, and proxy browsing broaden what the desktop can do beyond wallet reads.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solidFill>
              <a:srgbClr val="F7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-594360"/>
            <a:ext cx="2194560" cy="2194560"/>
          </a:xfrm>
          <a:prstGeom prst="ellipse">
            <a:avLst/>
          </a:prstGeom>
          <a:solidFill>
            <a:srgbClr val="EFE6DB"/>
          </a:solidFill>
          <a:ln>
            <a:solidFill>
              <a:srgbClr val="EFE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02920" y="5650992"/>
            <a:ext cx="1645920" cy="1645920"/>
          </a:xfrm>
          <a:prstGeom prst="ellipse">
            <a:avLst/>
          </a:prstGeom>
          <a:solidFill>
            <a:srgbClr val="F0E0D1"/>
          </a:solidFill>
          <a:ln>
            <a:solidFill>
              <a:srgbClr val="F0E0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2179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F7F4EE"/>
                </a:solidFill>
                <a:latin typeface="Trebuchet MS"/>
              </a:defRPr>
            </a:pPr>
            <a:r>
              <a:t>TRUST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4233B"/>
                </a:solidFill>
                <a:latin typeface="Trebuchet MS"/>
              </a:defRPr>
            </a:pPr>
            <a:r>
              <a:t>What the Solana feature does, and what it very intentionally does not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F637D"/>
                </a:solidFill>
                <a:latin typeface="Trebuchet MS"/>
              </a:defRPr>
            </a:pPr>
            <a:r>
              <a:t>This slide matters because trust boundaries are part of the product, not just part of compliance.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166360" cy="3200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340864"/>
            <a:ext cx="483717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Does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724912"/>
            <a:ext cx="4837176" cy="2523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" y="2697480"/>
            <a:ext cx="4617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14233B"/>
                </a:solidFill>
                <a:latin typeface="Trebuchet MS"/>
              </a:defRPr>
            </a:pPr>
            <a:r>
              <a:t>• Uses the authenticated wallet address as the canonical source of wallet identity.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14233B"/>
                </a:solidFill>
                <a:latin typeface="Trebuchet MS"/>
              </a:defRPr>
            </a:pPr>
            <a:r>
              <a:t>• Fetches SOL balance and recent transactions through explicit read-only tool calls.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14233B"/>
                </a:solidFill>
                <a:latin typeface="Trebuchet MS"/>
              </a:defRPr>
            </a:pPr>
            <a:r>
              <a:t>• Lets Hitomi answer wallet questions from refreshed runtime state instead of guessing.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14233B"/>
                </a:solidFill>
                <a:latin typeface="Trebuchet MS"/>
              </a:defRPr>
            </a:pPr>
            <a:r>
              <a:t>• Keeps user-visible workspace surfaces in front of the user while the agent works.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4892040" cy="3200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340864"/>
            <a:ext cx="4562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Does not do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724912"/>
            <a:ext cx="4562855" cy="2523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629400" y="2697480"/>
            <a:ext cx="4297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14233B"/>
                </a:solidFill>
                <a:latin typeface="Trebuchet MS"/>
              </a:defRPr>
            </a:pPr>
            <a:r>
              <a:t>• No signing, sending, approving, swapping, or custody claims.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14233B"/>
                </a:solidFill>
                <a:latin typeface="Trebuchet MS"/>
              </a:defRPr>
            </a:pPr>
            <a:r>
              <a:t>• No label scraping as primary production logic for wallet identity.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14233B"/>
                </a:solidFill>
                <a:latin typeface="Trebuchet MS"/>
              </a:defRPr>
            </a:pPr>
            <a:r>
              <a:t>• No aggressive background polling loop pretending to keep wallet state magically fresh.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14233B"/>
                </a:solidFill>
                <a:latin typeface="Trebuchet MS"/>
              </a:defRPr>
            </a:pPr>
            <a:r>
              <a:t>• No claim that Agent1c controls private keys or can move funds.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1323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87552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The wedge is read-only wallet understanding.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The platform ambition is much bigger.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23160"/>
            <a:ext cx="2514600" cy="242316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423160"/>
            <a:ext cx="2514600" cy="146304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6974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1">
                <a:solidFill>
                  <a:srgbClr val="35E4C4"/>
                </a:solidFill>
                <a:latin typeface="Trebuchet MS"/>
              </a:defRPr>
            </a:pPr>
            <a:r>
              <a:t>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99232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00" b="1">
                <a:solidFill>
                  <a:srgbClr val="F7F4EE"/>
                </a:solidFill>
                <a:latin typeface="Trebuchet MS"/>
              </a:defRPr>
            </a:pPr>
            <a:r>
              <a:t>Shipped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456432"/>
            <a:ext cx="2148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Solana login, wallet identity extraction, balance + recent transaction answers.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2423160"/>
            <a:ext cx="2514600" cy="242316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2423160"/>
            <a:ext cx="2514600" cy="146304"/>
          </a:xfrm>
          <a:prstGeom prst="rect">
            <a:avLst/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26974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1">
                <a:solidFill>
                  <a:srgbClr val="69CFFF"/>
                </a:solidFill>
                <a:latin typeface="Trebuchet MS"/>
              </a:defRPr>
            </a:pPr>
            <a: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2999232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00" b="1">
                <a:solidFill>
                  <a:srgbClr val="F7F4EE"/>
                </a:solidFill>
                <a:latin typeface="Trebuchet MS"/>
              </a:defRPr>
            </a:pPr>
            <a:r>
              <a:t>Hackathon polish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456432"/>
            <a:ext cx="2148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Tighter demo flow, better wallet summary surfaces, richer narrative for judges.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423160"/>
            <a:ext cx="2514600" cy="242316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2423160"/>
            <a:ext cx="2514600" cy="146304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26974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1">
                <a:solidFill>
                  <a:srgbClr val="FF7A59"/>
                </a:solidFill>
                <a:latin typeface="Trebuchet MS"/>
              </a:defRPr>
            </a:pPr>
            <a:r>
              <a:t>Then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999232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00" b="1">
                <a:solidFill>
                  <a:srgbClr val="F7F4EE"/>
                </a:solidFill>
                <a:latin typeface="Trebuchet MS"/>
              </a:defRPr>
            </a:pPr>
            <a:r>
              <a:t>Product expansion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56432"/>
            <a:ext cx="2148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SPL token views, deeper transaction explanations, wallet summary window.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2423160"/>
            <a:ext cx="2514600" cy="242316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0" y="2423160"/>
            <a:ext cx="2514600" cy="146304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2" y="26974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1">
                <a:solidFill>
                  <a:srgbClr val="FFC857"/>
                </a:solidFill>
                <a:latin typeface="Trebuchet MS"/>
              </a:defRPr>
            </a:pPr>
            <a:r>
              <a:t>Later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2999232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500" b="1">
                <a:solidFill>
                  <a:srgbClr val="F7F4EE"/>
                </a:solidFill>
                <a:latin typeface="Trebuchet MS"/>
              </a:defRPr>
            </a:pPr>
            <a:r>
              <a:t>Platform payoff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3456432"/>
            <a:ext cx="2148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Wallet-anchored encrypted sync and carefully approved action-taking surfaces.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5"/>
          </a:solidFill>
          <a:ln>
            <a:solidFill>
              <a:srgbClr val="EA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-594360"/>
            <a:ext cx="2194560" cy="2194560"/>
          </a:xfrm>
          <a:prstGeom prst="ellipse">
            <a:avLst/>
          </a:prstGeom>
          <a:solidFill>
            <a:srgbClr val="E4ECEE"/>
          </a:solidFill>
          <a:ln>
            <a:solidFill>
              <a:srgbClr val="E4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02920" y="5650992"/>
            <a:ext cx="1645920" cy="1645920"/>
          </a:xfrm>
          <a:prstGeom prst="ellipse">
            <a:avLst/>
          </a:prstGeom>
          <a:solidFill>
            <a:srgbClr val="DDEBED"/>
          </a:solidFill>
          <a:ln>
            <a:solidFill>
              <a:srgbClr val="DD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2179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024128"/>
            <a:ext cx="6126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4233B"/>
                </a:solidFill>
                <a:latin typeface="Trebuchet MS"/>
              </a:defRPr>
            </a:pPr>
            <a:r>
              <a:t>Wallets should anchor AI workspaces,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4233B"/>
                </a:solidFill>
                <a:latin typeface="Trebuchet MS"/>
              </a:defRPr>
            </a:pPr>
            <a:r>
              <a:t>not just transactions.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800">
                <a:solidFill>
                  <a:srgbClr val="14233B"/>
                </a:solidFill>
                <a:latin typeface="Trebuchet MS"/>
              </a:defRPr>
            </a:pPr>
            <a:r>
              <a:t>• Agent1c makes Solana identity useful inside a living browser workspace.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>
                <a:solidFill>
                  <a:srgbClr val="14233B"/>
                </a:solidFill>
                <a:latin typeface="Trebuchet MS"/>
              </a:defRPr>
            </a:pPr>
            <a:r>
              <a:t>• The repo already proves the core wallet-aware experience is real, not hypothetical.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800">
                <a:solidFill>
                  <a:srgbClr val="14233B"/>
                </a:solidFill>
                <a:latin typeface="Trebuchet MS"/>
              </a:defRPr>
            </a:pPr>
            <a:r>
              <a:t>• This hackathon is the right stage to turn that wedge into a memorable product demo.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280160"/>
            <a:ext cx="4206240" cy="4389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DD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1783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400" b="1">
                <a:solidFill>
                  <a:srgbClr val="14233B"/>
                </a:solidFill>
                <a:latin typeface="Trebuchet MS"/>
              </a:defRPr>
            </a:pPr>
            <a:r>
              <a:t>Agent1c.ai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24028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F637D"/>
                </a:solidFill>
                <a:latin typeface="Trebuchet MS"/>
              </a:defRPr>
            </a:pPr>
            <a:r>
              <a:t>Hosted agentic desktop 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2743200"/>
            <a:ext cx="2560320" cy="502920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16368" y="2907792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F7F4EE"/>
                </a:solidFill>
                <a:latin typeface="Trebuchet MS"/>
              </a:defRPr>
            </a:pPr>
            <a:r>
              <a:t>Solana login + live wallet 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3429000"/>
            <a:ext cx="2560320" cy="502920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368" y="3593592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F7F4EE"/>
                </a:solidFill>
                <a:latin typeface="Trebuchet MS"/>
              </a:defRPr>
            </a:pPr>
            <a:r>
              <a:t>Hitomi answers from tools, not guesses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114800"/>
            <a:ext cx="2560320" cy="502920"/>
          </a:xfrm>
          <a:prstGeom prst="roundRect">
            <a:avLst>
              <a:gd name="adj" fmla="val 18000"/>
            </a:avLst>
          </a:prstGeom>
          <a:solidFill>
            <a:srgbClr val="14233B"/>
          </a:solidFill>
          <a:ln>
            <a:solidFill>
              <a:srgbClr val="14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8" y="4279392"/>
            <a:ext cx="23408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F7F4EE"/>
                </a:solidFill>
                <a:latin typeface="Trebuchet MS"/>
              </a:defRPr>
            </a:pPr>
            <a:r>
              <a:t>Built for a bigger workspace future</a:t>
            </a:r>
          </a:p>
        </p:txBody>
      </p:sp>
      <p:pic>
        <p:nvPicPr>
          <p:cNvPr id="19" name="Picture 18" descr="hedgey-clip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709160"/>
            <a:ext cx="1005840" cy="10078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Agent1c.ai  |  Solana Hackathon  |  Pitch Deck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1323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87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Technical stack snapshot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11680"/>
            <a:ext cx="2331720" cy="27889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157984"/>
            <a:ext cx="20025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542032"/>
            <a:ext cx="2002536" cy="2112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Static GitHub Pages app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Vanilla JS modules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HedgeyOS desktop shell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No build step for core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2011680"/>
            <a:ext cx="2331720" cy="27889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6472" y="2157984"/>
            <a:ext cx="20025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Core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6472" y="2542032"/>
            <a:ext cx="2002536" cy="2112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`js/main.js`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`js/wm.js`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`js/agent1c.js`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`js/agent1cauth.js`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`js/agent1c-tools-runtime.js`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011680"/>
            <a:ext cx="2331720" cy="27889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157984"/>
            <a:ext cx="20025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Cloud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542032"/>
            <a:ext cx="2002536" cy="2112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Supabase project `gkfhxhrleuauhnuewfmw`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Supabase Auth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Edge Function `xai-chat`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Managed usage/quota path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011680"/>
            <a:ext cx="2331720" cy="278892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20072" y="2157984"/>
            <a:ext cx="20025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Solana read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0072" y="2542032"/>
            <a:ext cx="2002536" cy="2112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`js/solana-wallet.js`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RPC fallbacks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Balance + signatures + tx parsing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Read-only by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Appendix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>
            <a:solidFill>
              <a:srgbClr val="F7F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-594360"/>
            <a:ext cx="2194560" cy="2194560"/>
          </a:xfrm>
          <a:prstGeom prst="ellipse">
            <a:avLst/>
          </a:prstGeom>
          <a:solidFill>
            <a:srgbClr val="EFE6DB"/>
          </a:solidFill>
          <a:ln>
            <a:solidFill>
              <a:srgbClr val="EFE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02920" y="5650992"/>
            <a:ext cx="1645920" cy="1645920"/>
          </a:xfrm>
          <a:prstGeom prst="ellipse">
            <a:avLst/>
          </a:prstGeom>
          <a:solidFill>
            <a:srgbClr val="F0E0D1"/>
          </a:solidFill>
          <a:ln>
            <a:solidFill>
              <a:srgbClr val="F0E0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2179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4233B"/>
                </a:solidFill>
                <a:latin typeface="Trebuchet MS"/>
              </a:defRPr>
            </a:pPr>
            <a:r>
              <a:t>Solana auth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F637D"/>
                </a:solidFill>
                <a:latin typeface="Trebuchet MS"/>
              </a:defRPr>
            </a:pPr>
            <a:r>
              <a:t>This is the exact shape the repo describes and implements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80"/>
            <a:ext cx="1920240" cy="1828800"/>
          </a:xfrm>
          <a:prstGeom prst="roundRect">
            <a:avLst>
              <a:gd name="adj" fmla="val 18000"/>
            </a:avLst>
          </a:prstGeom>
          <a:solidFill>
            <a:srgbClr val="EEF4F7"/>
          </a:solidFill>
          <a:ln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84378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Wallet 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227832"/>
            <a:ext cx="1591056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Phantom / Backpack / Brave / compatible wallet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3383280"/>
            <a:ext cx="164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FF7A59"/>
                </a:solidFill>
                <a:latin typeface="Trebuchet M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697480"/>
            <a:ext cx="192024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3512" y="284378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`detectSolanaWallet()`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3512" y="3227832"/>
            <a:ext cx="1591056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Auth UI finds a connected provider in the browser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3383280"/>
            <a:ext cx="164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FF7A59"/>
                </a:solidFill>
                <a:latin typeface="Trebuchet M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2697480"/>
            <a:ext cx="1920240" cy="1828800"/>
          </a:xfrm>
          <a:prstGeom prst="roundRect">
            <a:avLst>
              <a:gd name="adj" fmla="val 18000"/>
            </a:avLst>
          </a:prstGeom>
          <a:solidFill>
            <a:srgbClr val="EEF4F7"/>
          </a:solidFill>
          <a:ln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2" y="284378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Supabase `signInWithWeb3`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2352" y="3227832"/>
            <a:ext cx="1591056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Authenticated cloud session established with `chain: "solana"`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6288" y="3383280"/>
            <a:ext cx="164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FF7A59"/>
                </a:solidFill>
                <a:latin typeface="Trebuchet MS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2697480"/>
            <a:ext cx="1920240" cy="18288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284378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Identity parser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3227832"/>
            <a:ext cx="1591056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Wallet address normalized from identity metadata and custom claims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3383280"/>
            <a:ext cx="1645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  <a:defRPr sz="2000" b="1">
                <a:solidFill>
                  <a:srgbClr val="FF7A59"/>
                </a:solidFill>
                <a:latin typeface="Trebuchet M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2697480"/>
            <a:ext cx="1920240" cy="1828800"/>
          </a:xfrm>
          <a:prstGeom prst="roundRect">
            <a:avLst>
              <a:gd name="adj" fmla="val 18000"/>
            </a:avLst>
          </a:prstGeom>
          <a:solidFill>
            <a:srgbClr val="EEF4F7"/>
          </a:solidFill>
          <a:ln>
            <a:solidFill>
              <a:srgbClr val="EE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2843784"/>
            <a:ext cx="15910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Runtime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3227832"/>
            <a:ext cx="1591056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`applyCloudIdentityToWalletState()` stores canonical wallet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Agent1c.ai  |  Solana Hackathon  |  Appendix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1323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87552"/>
            <a:ext cx="6583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How a wallet question becomes an answer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965960"/>
            <a:ext cx="3246120" cy="114300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112264"/>
            <a:ext cx="29169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FC857"/>
                </a:solidFill>
                <a:latin typeface="Trebuchet MS"/>
              </a:defRPr>
            </a:pPr>
            <a:r>
              <a:t>1. User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496312"/>
            <a:ext cx="2916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Example: "What's in my wallet?"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965960"/>
            <a:ext cx="3246120" cy="114300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112264"/>
            <a:ext cx="29169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FC857"/>
                </a:solidFill>
                <a:latin typeface="Trebuchet MS"/>
              </a:defRPr>
            </a:pPr>
            <a:r>
              <a:t>2. Prompt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96312"/>
            <a:ext cx="2916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Wallet address is inserted into runtime context if authenticated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59" y="1965960"/>
            <a:ext cx="3246120" cy="114300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1" y="2112264"/>
            <a:ext cx="29169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FFC857"/>
                </a:solidFill>
                <a:latin typeface="Trebuchet MS"/>
              </a:defRPr>
            </a:pPr>
            <a:r>
              <a:t>3. Tool 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1" y="2496312"/>
            <a:ext cx="2916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`solana_wallet_overview` or `solana_wallet_refresh`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3246120" cy="114300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" y="3712463"/>
            <a:ext cx="29169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4. Runtime refresh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4096511"/>
            <a:ext cx="2916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`refreshConnectedWalletState()` updates wallet cache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566160"/>
            <a:ext cx="3246120" cy="114300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712463"/>
            <a:ext cx="29169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5. RPC reads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096511"/>
            <a:ext cx="2916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`getBalance`, `getSignaturesForAddress`, `getTransaction`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3566160"/>
            <a:ext cx="3246120" cy="114300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2751" y="3712463"/>
            <a:ext cx="29169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35E4C4"/>
                </a:solidFill>
                <a:latin typeface="Trebuchet MS"/>
              </a:defRPr>
            </a:pPr>
            <a:r>
              <a:t>6. Plain-English 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1" y="4096511"/>
            <a:ext cx="2916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Hitomi responds from tool output, not from guessing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Appendix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2F5"/>
          </a:solidFill>
          <a:ln>
            <a:solidFill>
              <a:srgbClr val="EAF2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87000" y="-594360"/>
            <a:ext cx="2194560" cy="2194560"/>
          </a:xfrm>
          <a:prstGeom prst="ellipse">
            <a:avLst/>
          </a:prstGeom>
          <a:solidFill>
            <a:srgbClr val="E4ECEE"/>
          </a:solidFill>
          <a:ln>
            <a:solidFill>
              <a:srgbClr val="E4E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502920" y="5650992"/>
            <a:ext cx="1645920" cy="1645920"/>
          </a:xfrm>
          <a:prstGeom prst="ellipse">
            <a:avLst/>
          </a:prstGeom>
          <a:solidFill>
            <a:srgbClr val="DDEBED"/>
          </a:solidFill>
          <a:ln>
            <a:solidFill>
              <a:srgbClr val="DDEB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56692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2179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000" b="1">
                <a:solidFill>
                  <a:srgbClr val="14233B"/>
                </a:solidFill>
                <a:latin typeface="Trebuchet MS"/>
              </a:defRPr>
            </a:pPr>
            <a:r>
              <a:t>The Solana wedge sits inside a broader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4F637D"/>
                </a:solidFill>
                <a:latin typeface="Trebuchet MS"/>
              </a:defRPr>
            </a:pPr>
            <a:r>
              <a:t>These adjacent surfaces matter because they show Agent1c is a workspace product, not a one-feature wallet demo.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4572000" cy="1170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478024"/>
            <a:ext cx="4242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Browser + relay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862072"/>
            <a:ext cx="424281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The repo already includes shell relay, Tor relay, and proxy browsing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331720"/>
            <a:ext cx="4572000" cy="1170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2478024"/>
            <a:ext cx="4242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Telegram cloud relay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862072"/>
            <a:ext cx="424281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Agent1c can bridge Telegram into the runtime while keeping tab-online constraints explicit.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40480"/>
            <a:ext cx="4572000" cy="1170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3986784"/>
            <a:ext cx="4242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Editable runtime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370832"/>
            <a:ext cx="424281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`SOUL.md`, `TOOLS.md`, and heartbeat are first-class windows that shape behavior.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3840480"/>
            <a:ext cx="4572000" cy="1170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3986784"/>
            <a:ext cx="4242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14233B"/>
                </a:solidFill>
                <a:latin typeface="Trebuchet MS"/>
              </a:defRPr>
            </a:pPr>
            <a:r>
              <a:t>Managed cloud quotas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4370832"/>
            <a:ext cx="424281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4F637D"/>
                </a:solidFill>
                <a:latin typeface="Trebuchet MS"/>
              </a:defRPr>
            </a:pPr>
            <a:r>
              <a:t>Per-user usage is enforced in Supabase, not by trusting provider-global usage.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Agent1c.ai  |  Solana Hackathon  |  Appendix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4F637D"/>
                </a:solidFill>
                <a:latin typeface="Trebuchet M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solidFill>
              <a:srgbClr val="0B1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05840"/>
            <a:ext cx="3840480" cy="3840480"/>
          </a:xfrm>
          <a:prstGeom prst="ellipse">
            <a:avLst/>
          </a:prstGeom>
          <a:solidFill>
            <a:srgbClr val="121B31"/>
          </a:solidFill>
          <a:ln>
            <a:solidFill>
              <a:srgbClr val="121B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5166360"/>
            <a:ext cx="2194560" cy="2194560"/>
          </a:xfrm>
          <a:prstGeom prst="ellipse">
            <a:avLst/>
          </a:prstGeom>
          <a:solidFill>
            <a:srgbClr val="16223A"/>
          </a:solidFill>
          <a:ln>
            <a:solidFill>
              <a:srgbClr val="162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30352"/>
            <a:ext cx="594360" cy="73152"/>
          </a:xfrm>
          <a:prstGeom prst="rect">
            <a:avLst/>
          </a:prstGeom>
          <a:solidFill>
            <a:srgbClr val="35E4C4"/>
          </a:solidFill>
          <a:ln>
            <a:solidFill>
              <a:srgbClr val="35E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98448" y="530352"/>
            <a:ext cx="420624" cy="73152"/>
          </a:xfrm>
          <a:prstGeom prst="rect">
            <a:avLst/>
          </a:prstGeom>
          <a:solidFill>
            <a:srgbClr val="FF7A59"/>
          </a:solidFill>
          <a:ln>
            <a:solidFill>
              <a:srgbClr val="FF7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3936" y="530352"/>
            <a:ext cx="329184" cy="7315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658368"/>
            <a:ext cx="2057400" cy="347472"/>
          </a:xfrm>
          <a:prstGeom prst="roundRect">
            <a:avLst>
              <a:gd name="adj" fmla="val 18000"/>
            </a:avLst>
          </a:prstGeom>
          <a:solidFill>
            <a:srgbClr val="69CFFF"/>
          </a:solidFill>
          <a:ln>
            <a:solidFill>
              <a:srgbClr val="69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713232"/>
            <a:ext cx="1819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100" b="1">
                <a:solidFill>
                  <a:srgbClr val="0B1020"/>
                </a:solidFill>
                <a:latin typeface="Trebuchet MS"/>
              </a:defRPr>
            </a:pPr>
            <a: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98755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2800" b="1">
                <a:solidFill>
                  <a:srgbClr val="F7F4EE"/>
                </a:solidFill>
                <a:latin typeface="Trebuchet MS"/>
              </a:defRPr>
            </a:pPr>
            <a:r>
              <a:t>Reserved blocks to fill before finals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64208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0">
                <a:solidFill>
                  <a:srgbClr val="C7D3E2"/>
                </a:solidFill>
                <a:latin typeface="Trebuchet MS"/>
              </a:defRPr>
            </a:pPr>
            <a:r>
              <a:t>These are intentionally structured into the deck now so we can add external research later without redesigning the narrative.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4663440" cy="123444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569464"/>
            <a:ext cx="43342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69CFFF"/>
                </a:solidFill>
                <a:latin typeface="Trebuchet MS"/>
              </a:defRPr>
            </a:pPr>
            <a:r>
              <a:t>Market 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53512"/>
            <a:ext cx="4334255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TAM / SAM / SOM or the specific market lens we want to 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423160"/>
            <a:ext cx="4663440" cy="123444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1" y="2569464"/>
            <a:ext cx="43342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69CFFF"/>
                </a:solidFill>
                <a:latin typeface="Trebuchet MS"/>
              </a:defRPr>
            </a:pPr>
            <a:r>
              <a:t>ICP + wedge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1" y="2953512"/>
            <a:ext cx="4334255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Which user segment we pitch first: power users, traders, teams, or creators.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4663440" cy="123444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215384"/>
            <a:ext cx="43342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69CFFF"/>
                </a:solidFill>
                <a:latin typeface="Trebuchet MS"/>
              </a:defRPr>
            </a:pPr>
            <a:r>
              <a:t>Traction + 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599432"/>
            <a:ext cx="4334255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Usage stats, qualitative demos, retention, waitlist, or judge-relevant proof points.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069080"/>
            <a:ext cx="4663440" cy="1234440"/>
          </a:xfrm>
          <a:prstGeom prst="roundRect">
            <a:avLst>
              <a:gd name="adj" fmla="val 18000"/>
            </a:avLst>
          </a:prstGeom>
          <a:solidFill>
            <a:srgbClr val="17243D"/>
          </a:solidFill>
          <a:ln>
            <a:solidFill>
              <a:srgbClr val="172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1" y="4215384"/>
            <a:ext cx="43342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400" b="1">
                <a:solidFill>
                  <a:srgbClr val="69CFFF"/>
                </a:solidFill>
                <a:latin typeface="Trebuchet MS"/>
              </a:defRPr>
            </a:pPr>
            <a:r>
              <a:t>Competition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1" y="4599432"/>
            <a:ext cx="4334255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200" b="0">
                <a:solidFill>
                  <a:srgbClr val="C8D3E2"/>
                </a:solidFill>
                <a:latin typeface="Trebuchet MS"/>
              </a:defRPr>
            </a:pPr>
            <a:r>
              <a:t>How we position Agent1c against copilots, wallet dashboards, and browser assistants.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Agent1c.ai  |  Solana Hackathon  |  Appendix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  <a:defRPr sz="1000" b="0">
                <a:solidFill>
                  <a:srgbClr val="F7F4EE"/>
                </a:solidFill>
                <a:latin typeface="Trebuchet M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